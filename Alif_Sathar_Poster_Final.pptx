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5124113" cy="10688638"/>
  <p:notesSz cx="10688638" cy="151241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60" y="-15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4B7BE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4B7BE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8BE-4E90-9A81-C18526A9285F}"/>
              </c:ext>
            </c:extLst>
          </c:dPt>
          <c:dPt>
            <c:idx val="1"/>
            <c:invertIfNegative val="0"/>
            <c:bubble3D val="0"/>
            <c:spPr>
              <a:solidFill>
                <a:srgbClr val="1EB2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8BE-4E90-9A81-C18526A9285F}"/>
              </c:ext>
            </c:extLst>
          </c:dPt>
          <c:dPt>
            <c:idx val="2"/>
            <c:invertIfNegative val="0"/>
            <c:bubble3D val="0"/>
            <c:spPr>
              <a:solidFill>
                <a:srgbClr val="9B59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8BE-4E90-9A81-C18526A9285F}"/>
              </c:ext>
            </c:extLst>
          </c:dPt>
          <c:dPt>
            <c:idx val="3"/>
            <c:invertIfNegative val="0"/>
            <c:bubble3D val="0"/>
            <c:spPr>
              <a:solidFill>
                <a:srgbClr val="E945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8BE-4E90-9A81-C18526A9285F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Fed. Learning</c:v>
                </c:pt>
                <c:pt idx="2">
                  <c:v>Split Learning</c:v>
                </c:pt>
                <c:pt idx="3">
                  <c:v>Split-Fed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83.7</c:v>
                </c:pt>
                <c:pt idx="1">
                  <c:v>84.24</c:v>
                </c:pt>
                <c:pt idx="2">
                  <c:v>83.15</c:v>
                </c:pt>
                <c:pt idx="3">
                  <c:v>84.24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8BE-4E90-9A81-C18526A9285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C0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6"/>
          <c:min val="78"/>
        </c:scaling>
        <c:delete val="0"/>
        <c:axPos val="l"/>
        <c:majorGridlines>
          <c:spPr>
            <a:ln w="6350" cap="flat">
              <a:solidFill>
                <a:srgbClr val="1A2E5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C0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B3E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D1B3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1163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0" Type="http://schemas.openxmlformats.org/officeDocument/2006/relationships/chart" Target="../charts/chart1.xml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124176" cy="914400"/>
          </a:xfrm>
          <a:prstGeom prst="rect">
            <a:avLst/>
          </a:prstGeom>
          <a:solidFill>
            <a:srgbClr val="1F4068"/>
          </a:solidFill>
          <a:ln w="12700">
            <a:solidFill>
              <a:srgbClr val="1F40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" y="0"/>
            <a:ext cx="127953" cy="914400"/>
          </a:xfrm>
          <a:prstGeom prst="rect">
            <a:avLst/>
          </a:prstGeom>
          <a:solidFill>
            <a:srgbClr val="1EB2E0"/>
          </a:solidFill>
          <a:ln w="12700">
            <a:solidFill>
              <a:srgbClr val="1EB2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01168" y="54864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Privacy-Preserving Machine Learning for Healthcare</a:t>
            </a:r>
            <a:endParaRPr lang="en-US" sz="2600" dirty="0">
              <a:latin typeface="Aptos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01168" y="530352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ECF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 Comparative Study of Federated Learning, Split Learning &amp; Split-Fed Learning</a:t>
            </a:r>
            <a:endParaRPr lang="en-US" sz="1350" dirty="0">
              <a:latin typeface="Aptos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186352" y="91440"/>
            <a:ext cx="493776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1EB2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232072" y="118872"/>
            <a:ext cx="48463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Alif Sathar  |  SID: 2276245
</a:t>
            </a:r>
            <a:r>
              <a:rPr lang="en-US" sz="1000" dirty="0">
                <a:solidFill>
                  <a:srgbClr val="A8C0C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BSc (Hons) Artificial Intelligence
</a:t>
            </a:r>
            <a:r>
              <a:rPr lang="en-US" sz="950" dirty="0">
                <a:solidFill>
                  <a:srgbClr val="A8C0C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Supervisor: Dr Raj Shukla  |  ARU  |  April 2026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82880" y="1170432"/>
            <a:ext cx="3493008" cy="2244852"/>
          </a:xfrm>
          <a:prstGeom prst="rect">
            <a:avLst/>
          </a:prstGeom>
          <a:solidFill>
            <a:srgbClr val="162447"/>
          </a:solidFill>
          <a:ln w="12700">
            <a:solidFill>
              <a:srgbClr val="1A2E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82879" y="1060704"/>
            <a:ext cx="3493008" cy="324231"/>
          </a:xfrm>
          <a:prstGeom prst="rect">
            <a:avLst/>
          </a:prstGeom>
          <a:solidFill>
            <a:srgbClr val="1F4068"/>
          </a:solidFill>
          <a:ln w="12700">
            <a:solidFill>
              <a:srgbClr val="1F40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86309" y="1060322"/>
            <a:ext cx="85534" cy="320421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322" y="1104138"/>
            <a:ext cx="201168" cy="20116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12064" y="1207008"/>
            <a:ext cx="3035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EB2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INTRODUCTION</a:t>
            </a:r>
          </a:p>
          <a:p>
            <a:pPr marL="0" indent="0">
              <a:buNone/>
            </a:pP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56032" y="1364742"/>
            <a:ext cx="3310128" cy="81153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EB2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The Challenge
</a:t>
            </a:r>
            <a:r>
              <a:rPr lang="en-US" sz="950" dirty="0">
                <a:solidFill>
                  <a:srgbClr val="E8F4F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Healthcare AI requires vast patient datasets — but traditional centralised training means sensitive records must leave hospital systems, creating serious privacy and regulatory risks under UK GDPR Article 9.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256032" y="2157984"/>
            <a:ext cx="3310128" cy="7498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EB2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The Solution
</a:t>
            </a:r>
            <a:r>
              <a:rPr lang="en-US" sz="950" dirty="0">
                <a:solidFill>
                  <a:srgbClr val="E8F4F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Privacy-Preserving Machine Learning (PPML) enables model training across distributed datasets without exposing raw patient data. This project compares three PPML architectures — FL, SL, and SFL — against a centralised baseline.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256032" y="2980944"/>
            <a:ext cx="1042416" cy="438912"/>
          </a:xfrm>
          <a:prstGeom prst="rect">
            <a:avLst/>
          </a:prstGeom>
          <a:solidFill>
            <a:srgbClr val="1F4068"/>
          </a:solidFill>
          <a:ln w="12700">
            <a:solidFill>
              <a:srgbClr val="1EB2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256032" y="2999232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B2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920</a:t>
            </a:r>
            <a:endParaRPr lang="en-US" sz="1700" dirty="0">
              <a:latin typeface="Aptos" panose="020B00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256032" y="3218688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C0C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850" dirty="0">
              <a:latin typeface="Aptos" panose="020B0004020202020204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1389888" y="2980944"/>
            <a:ext cx="1042416" cy="438912"/>
          </a:xfrm>
          <a:prstGeom prst="rect">
            <a:avLst/>
          </a:prstGeom>
          <a:solidFill>
            <a:srgbClr val="1F4068"/>
          </a:solidFill>
          <a:ln w="12700">
            <a:solidFill>
              <a:srgbClr val="1EB2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1389888" y="2999232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B2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700" dirty="0">
              <a:latin typeface="Aptos" panose="020B00040202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389888" y="3218688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C0C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50" dirty="0">
              <a:latin typeface="Aptos" panose="020B0004020202020204" pitchFamily="34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2523744" y="2980944"/>
            <a:ext cx="1042416" cy="438912"/>
          </a:xfrm>
          <a:prstGeom prst="rect">
            <a:avLst/>
          </a:prstGeom>
          <a:solidFill>
            <a:srgbClr val="1F4068"/>
          </a:solidFill>
          <a:ln w="12700">
            <a:solidFill>
              <a:srgbClr val="1EB2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2523744" y="2999232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B2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>
              <a:latin typeface="Aptos" panose="020B00040202020202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2523744" y="3218688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C0C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850" dirty="0">
              <a:latin typeface="Aptos" panose="020B0004020202020204" pitchFamily="34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164592" y="3566160"/>
            <a:ext cx="3493008" cy="2221992"/>
          </a:xfrm>
          <a:prstGeom prst="rect">
            <a:avLst/>
          </a:prstGeom>
          <a:solidFill>
            <a:srgbClr val="162447"/>
          </a:solidFill>
          <a:ln w="12700">
            <a:solidFill>
              <a:srgbClr val="1A2E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169926" y="3566160"/>
            <a:ext cx="3493008" cy="301752"/>
          </a:xfrm>
          <a:prstGeom prst="rect">
            <a:avLst/>
          </a:prstGeom>
          <a:solidFill>
            <a:srgbClr val="1F4068"/>
          </a:solidFill>
          <a:ln w="12700">
            <a:solidFill>
              <a:srgbClr val="1F406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6" name="Shape 23"/>
          <p:cNvSpPr/>
          <p:nvPr/>
        </p:nvSpPr>
        <p:spPr>
          <a:xfrm>
            <a:off x="169926" y="3565779"/>
            <a:ext cx="86106" cy="3017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625596"/>
            <a:ext cx="201168" cy="20116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12064" y="3602736"/>
            <a:ext cx="3035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EB2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DATASET &amp; TOOLS</a:t>
            </a:r>
            <a:endParaRPr lang="en-US" sz="950" dirty="0">
              <a:latin typeface="Aptos" panose="020B0004020202020204" pitchFamily="34" charset="0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256032" y="3913632"/>
            <a:ext cx="3310128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Heart Disease UCI Dataset
</a:t>
            </a:r>
            <a:r>
              <a:rPr lang="en-US" sz="950" dirty="0">
                <a:solidFill>
                  <a:srgbClr val="E8F4F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920 records from 4 hospitals (Cleveland, Hungary, Switzerland, Long Beach VA). Binary classification: presence/absence of heart disease. 13 clinical features after preprocessing.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30" name="Shape 26"/>
          <p:cNvSpPr/>
          <p:nvPr/>
        </p:nvSpPr>
        <p:spPr>
          <a:xfrm>
            <a:off x="256032" y="4573333"/>
            <a:ext cx="1627632" cy="201168"/>
          </a:xfrm>
          <a:prstGeom prst="rect">
            <a:avLst/>
          </a:prstGeom>
          <a:solidFill>
            <a:srgbClr val="1F4068"/>
          </a:solidFill>
          <a:ln w="12700">
            <a:solidFill>
              <a:srgbClr val="2A408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1" name="Text 27"/>
          <p:cNvSpPr/>
          <p:nvPr/>
        </p:nvSpPr>
        <p:spPr>
          <a:xfrm>
            <a:off x="256032" y="4462272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solidFill>
                <a:srgbClr val="E8F4F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800" dirty="0">
              <a:solidFill>
                <a:srgbClr val="E8F4F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/ Sex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1975104" y="4572000"/>
            <a:ext cx="1627632" cy="201168"/>
          </a:xfrm>
          <a:prstGeom prst="rect">
            <a:avLst/>
          </a:prstGeom>
          <a:solidFill>
            <a:srgbClr val="1F4068"/>
          </a:solidFill>
          <a:ln w="12700">
            <a:solidFill>
              <a:srgbClr val="2A408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3" name="Text 29"/>
          <p:cNvSpPr/>
          <p:nvPr/>
        </p:nvSpPr>
        <p:spPr>
          <a:xfrm>
            <a:off x="1975104" y="4462272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solidFill>
                <a:srgbClr val="E8F4F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800" dirty="0">
              <a:solidFill>
                <a:srgbClr val="E8F4F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Pain Type</a:t>
            </a: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256032" y="4846320"/>
            <a:ext cx="1627632" cy="201168"/>
          </a:xfrm>
          <a:prstGeom prst="rect">
            <a:avLst/>
          </a:prstGeom>
          <a:solidFill>
            <a:srgbClr val="1F4068"/>
          </a:solidFill>
          <a:ln w="12700">
            <a:solidFill>
              <a:srgbClr val="2A4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1"/>
          <p:cNvSpPr/>
          <p:nvPr/>
        </p:nvSpPr>
        <p:spPr>
          <a:xfrm>
            <a:off x="256032" y="4718304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solidFill>
                <a:srgbClr val="E8F4F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800" dirty="0">
              <a:solidFill>
                <a:srgbClr val="E8F4F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Pressure</a:t>
            </a:r>
            <a:endParaRPr lang="en-US" sz="800" dirty="0"/>
          </a:p>
        </p:txBody>
      </p:sp>
      <p:sp>
        <p:nvSpPr>
          <p:cNvPr id="36" name="Shape 32"/>
          <p:cNvSpPr/>
          <p:nvPr/>
        </p:nvSpPr>
        <p:spPr>
          <a:xfrm>
            <a:off x="1975104" y="4841748"/>
            <a:ext cx="1627632" cy="201168"/>
          </a:xfrm>
          <a:prstGeom prst="rect">
            <a:avLst/>
          </a:prstGeom>
          <a:solidFill>
            <a:srgbClr val="1F4068"/>
          </a:solidFill>
          <a:ln w="12700">
            <a:solidFill>
              <a:srgbClr val="2A4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3"/>
          <p:cNvSpPr/>
          <p:nvPr/>
        </p:nvSpPr>
        <p:spPr>
          <a:xfrm>
            <a:off x="1975104" y="4718304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solidFill>
                <a:srgbClr val="E8F4F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800" dirty="0">
              <a:solidFill>
                <a:srgbClr val="E8F4F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Cholesterol</a:t>
            </a:r>
            <a:endParaRPr lang="en-US" sz="800" dirty="0"/>
          </a:p>
        </p:txBody>
      </p:sp>
      <p:sp>
        <p:nvSpPr>
          <p:cNvPr id="38" name="Shape 34"/>
          <p:cNvSpPr/>
          <p:nvPr/>
        </p:nvSpPr>
        <p:spPr>
          <a:xfrm>
            <a:off x="256032" y="5106924"/>
            <a:ext cx="1627632" cy="201168"/>
          </a:xfrm>
          <a:prstGeom prst="rect">
            <a:avLst/>
          </a:prstGeom>
          <a:solidFill>
            <a:srgbClr val="1F4068"/>
          </a:solidFill>
          <a:ln w="12700">
            <a:solidFill>
              <a:srgbClr val="2A4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5"/>
          <p:cNvSpPr/>
          <p:nvPr/>
        </p:nvSpPr>
        <p:spPr>
          <a:xfrm>
            <a:off x="256032" y="4946904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solidFill>
                <a:srgbClr val="E8F4F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800" dirty="0">
              <a:solidFill>
                <a:srgbClr val="E8F4F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E8F4F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Max Heart Rate</a:t>
            </a:r>
            <a:endParaRPr lang="en-US" sz="800" dirty="0">
              <a:latin typeface="Aptos" panose="020B0004020202020204" pitchFamily="34" charset="0"/>
            </a:endParaRPr>
          </a:p>
        </p:txBody>
      </p:sp>
      <p:sp>
        <p:nvSpPr>
          <p:cNvPr id="40" name="Shape 36"/>
          <p:cNvSpPr/>
          <p:nvPr/>
        </p:nvSpPr>
        <p:spPr>
          <a:xfrm>
            <a:off x="1975104" y="5106924"/>
            <a:ext cx="1627632" cy="201168"/>
          </a:xfrm>
          <a:prstGeom prst="rect">
            <a:avLst/>
          </a:prstGeom>
          <a:solidFill>
            <a:srgbClr val="1F4068"/>
          </a:solidFill>
          <a:ln w="12700">
            <a:solidFill>
              <a:srgbClr val="2A408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1" name="Text 37"/>
          <p:cNvSpPr/>
          <p:nvPr/>
        </p:nvSpPr>
        <p:spPr>
          <a:xfrm>
            <a:off x="1975104" y="4974336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solidFill>
                <a:srgbClr val="E8F4F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800" dirty="0">
              <a:solidFill>
                <a:srgbClr val="E8F4F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E8F4F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 Depression</a:t>
            </a:r>
            <a:endParaRPr lang="en-US" sz="800" dirty="0">
              <a:latin typeface="Aptos" panose="020B0004020202020204" pitchFamily="34" charset="0"/>
            </a:endParaRPr>
          </a:p>
        </p:txBody>
      </p:sp>
      <p:sp>
        <p:nvSpPr>
          <p:cNvPr id="42" name="Text 38"/>
          <p:cNvSpPr/>
          <p:nvPr/>
        </p:nvSpPr>
        <p:spPr>
          <a:xfrm>
            <a:off x="256032" y="5321808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850" dirty="0">
                <a:solidFill>
                  <a:srgbClr val="A8C0C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850" dirty="0">
              <a:latin typeface="Aptos" panose="020B0004020202020204" pitchFamily="34" charset="0"/>
            </a:endParaRPr>
          </a:p>
        </p:txBody>
      </p:sp>
      <p:sp>
        <p:nvSpPr>
          <p:cNvPr id="43" name="Text 39"/>
          <p:cNvSpPr/>
          <p:nvPr/>
        </p:nvSpPr>
        <p:spPr>
          <a:xfrm>
            <a:off x="1975104" y="5321808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850" dirty="0">
                <a:solidFill>
                  <a:srgbClr val="A8C0C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TensorFlow 2.19</a:t>
            </a:r>
            <a:endParaRPr lang="en-US" sz="850" dirty="0">
              <a:latin typeface="Aptos" panose="020B0004020202020204" pitchFamily="34" charset="0"/>
            </a:endParaRPr>
          </a:p>
        </p:txBody>
      </p:sp>
      <p:sp>
        <p:nvSpPr>
          <p:cNvPr id="44" name="Text 40"/>
          <p:cNvSpPr/>
          <p:nvPr/>
        </p:nvSpPr>
        <p:spPr>
          <a:xfrm>
            <a:off x="256032" y="5486400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850" dirty="0">
                <a:solidFill>
                  <a:srgbClr val="A8C0C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Keras</a:t>
            </a:r>
            <a:endParaRPr lang="en-US" sz="850" dirty="0">
              <a:latin typeface="Aptos" panose="020B0004020202020204" pitchFamily="34" charset="0"/>
            </a:endParaRPr>
          </a:p>
        </p:txBody>
      </p:sp>
      <p:sp>
        <p:nvSpPr>
          <p:cNvPr id="45" name="Text 41"/>
          <p:cNvSpPr/>
          <p:nvPr/>
        </p:nvSpPr>
        <p:spPr>
          <a:xfrm>
            <a:off x="1975104" y="5486400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850" dirty="0">
                <a:solidFill>
                  <a:srgbClr val="A8C0C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850" dirty="0">
              <a:latin typeface="Aptos" panose="020B0004020202020204" pitchFamily="34" charset="0"/>
            </a:endParaRPr>
          </a:p>
        </p:txBody>
      </p:sp>
      <p:sp>
        <p:nvSpPr>
          <p:cNvPr id="46" name="Text 42"/>
          <p:cNvSpPr/>
          <p:nvPr/>
        </p:nvSpPr>
        <p:spPr>
          <a:xfrm>
            <a:off x="256032" y="5650992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850" dirty="0">
                <a:solidFill>
                  <a:srgbClr val="A8C0C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850" dirty="0">
              <a:latin typeface="Aptos" panose="020B0004020202020204" pitchFamily="34" charset="0"/>
            </a:endParaRPr>
          </a:p>
        </p:txBody>
      </p:sp>
      <p:sp>
        <p:nvSpPr>
          <p:cNvPr id="47" name="Shape 43"/>
          <p:cNvSpPr/>
          <p:nvPr/>
        </p:nvSpPr>
        <p:spPr>
          <a:xfrm>
            <a:off x="173736" y="5824728"/>
            <a:ext cx="3493008" cy="384048"/>
          </a:xfrm>
          <a:prstGeom prst="rect">
            <a:avLst/>
          </a:prstGeom>
          <a:solidFill>
            <a:srgbClr val="162447"/>
          </a:solidFill>
          <a:ln w="12700">
            <a:solidFill>
              <a:srgbClr val="1A2E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Text 44"/>
          <p:cNvSpPr/>
          <p:nvPr/>
        </p:nvSpPr>
        <p:spPr>
          <a:xfrm>
            <a:off x="265176" y="5907024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C0C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Ethics Ref: ETH2526-2037  |  Kaggle Notebook (TF 2.19, Tesla T4 GPU)</a:t>
            </a:r>
            <a:endParaRPr lang="en-US" sz="800" dirty="0">
              <a:latin typeface="Aptos" panose="020B0004020202020204" pitchFamily="34" charset="0"/>
            </a:endParaRPr>
          </a:p>
        </p:txBody>
      </p:sp>
      <p:sp>
        <p:nvSpPr>
          <p:cNvPr id="49" name="Shape 45"/>
          <p:cNvSpPr/>
          <p:nvPr/>
        </p:nvSpPr>
        <p:spPr>
          <a:xfrm>
            <a:off x="173736" y="6291072"/>
            <a:ext cx="3493008" cy="1700784"/>
          </a:xfrm>
          <a:prstGeom prst="rect">
            <a:avLst/>
          </a:prstGeom>
          <a:solidFill>
            <a:srgbClr val="162447"/>
          </a:solidFill>
          <a:ln w="12700">
            <a:solidFill>
              <a:srgbClr val="1A2E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0" name="Shape 46"/>
          <p:cNvSpPr/>
          <p:nvPr/>
        </p:nvSpPr>
        <p:spPr>
          <a:xfrm>
            <a:off x="164592" y="6313932"/>
            <a:ext cx="3493008" cy="251460"/>
          </a:xfrm>
          <a:prstGeom prst="rect">
            <a:avLst/>
          </a:prstGeom>
          <a:solidFill>
            <a:srgbClr val="1F4068"/>
          </a:solidFill>
          <a:ln w="12700">
            <a:solidFill>
              <a:srgbClr val="1F40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7"/>
          <p:cNvSpPr/>
          <p:nvPr/>
        </p:nvSpPr>
        <p:spPr>
          <a:xfrm>
            <a:off x="164592" y="6307264"/>
            <a:ext cx="64008" cy="25812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843" y="6357556"/>
            <a:ext cx="201168" cy="201168"/>
          </a:xfrm>
          <a:prstGeom prst="rect">
            <a:avLst/>
          </a:prstGeom>
        </p:spPr>
      </p:pic>
      <p:sp>
        <p:nvSpPr>
          <p:cNvPr id="53" name="Text 48"/>
          <p:cNvSpPr/>
          <p:nvPr/>
        </p:nvSpPr>
        <p:spPr>
          <a:xfrm>
            <a:off x="512064" y="6272784"/>
            <a:ext cx="3035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b="1" kern="0" spc="150" dirty="0">
              <a:solidFill>
                <a:srgbClr val="1EB2E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950" b="1" kern="0" spc="150" dirty="0">
                <a:solidFill>
                  <a:srgbClr val="1EB2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950" dirty="0">
              <a:latin typeface="Aptos" panose="020B0004020202020204" pitchFamily="34" charset="0"/>
            </a:endParaRPr>
          </a:p>
        </p:txBody>
      </p:sp>
      <p:sp>
        <p:nvSpPr>
          <p:cNvPr id="54" name="Text 49"/>
          <p:cNvSpPr/>
          <p:nvPr/>
        </p:nvSpPr>
        <p:spPr>
          <a:xfrm>
            <a:off x="274320" y="65836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E8F4F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Train centralised baseline (benchmark)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55" name="Text 50"/>
          <p:cNvSpPr/>
          <p:nvPr/>
        </p:nvSpPr>
        <p:spPr>
          <a:xfrm>
            <a:off x="274320" y="680313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E8F4F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Implement FL with FedAvg (50 rounds, 10 local epochs)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56" name="Text 51"/>
          <p:cNvSpPr/>
          <p:nvPr/>
        </p:nvSpPr>
        <p:spPr>
          <a:xfrm>
            <a:off x="274320" y="702259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E8F4F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Implement SL with cut layer (100 epochs)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57" name="Text 52"/>
          <p:cNvSpPr/>
          <p:nvPr/>
        </p:nvSpPr>
        <p:spPr>
          <a:xfrm>
            <a:off x="274320" y="72420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E8F4F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Implement SFL hybrid architecture (50 rounds)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58" name="Text 53"/>
          <p:cNvSpPr/>
          <p:nvPr/>
        </p:nvSpPr>
        <p:spPr>
          <a:xfrm>
            <a:off x="274320" y="746150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E8F4F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Compare accuracy, loss &amp; communication cost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59" name="Text 54"/>
          <p:cNvSpPr/>
          <p:nvPr/>
        </p:nvSpPr>
        <p:spPr>
          <a:xfrm>
            <a:off x="274320" y="76809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E8F4F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Evaluate privacy implications for NHS deployment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60" name="Shape 55"/>
          <p:cNvSpPr/>
          <p:nvPr/>
        </p:nvSpPr>
        <p:spPr>
          <a:xfrm>
            <a:off x="3822191" y="1060704"/>
            <a:ext cx="3493008" cy="1481328"/>
          </a:xfrm>
          <a:prstGeom prst="rect">
            <a:avLst/>
          </a:prstGeom>
          <a:solidFill>
            <a:srgbClr val="162447"/>
          </a:solidFill>
          <a:ln w="12700">
            <a:solidFill>
              <a:srgbClr val="1A2E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1" name="Shape 56"/>
          <p:cNvSpPr/>
          <p:nvPr/>
        </p:nvSpPr>
        <p:spPr>
          <a:xfrm>
            <a:off x="3822190" y="1060704"/>
            <a:ext cx="3493008" cy="301752"/>
          </a:xfrm>
          <a:prstGeom prst="rect">
            <a:avLst/>
          </a:prstGeom>
          <a:solidFill>
            <a:srgbClr val="1F4068"/>
          </a:solidFill>
          <a:ln w="12700">
            <a:solidFill>
              <a:srgbClr val="1F40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57"/>
          <p:cNvSpPr/>
          <p:nvPr/>
        </p:nvSpPr>
        <p:spPr>
          <a:xfrm>
            <a:off x="3822192" y="1060704"/>
            <a:ext cx="64008" cy="3017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1920" y="1115568"/>
            <a:ext cx="201168" cy="201168"/>
          </a:xfrm>
          <a:prstGeom prst="rect">
            <a:avLst/>
          </a:prstGeom>
        </p:spPr>
      </p:pic>
      <p:sp>
        <p:nvSpPr>
          <p:cNvPr id="64" name="Text 58"/>
          <p:cNvSpPr/>
          <p:nvPr/>
        </p:nvSpPr>
        <p:spPr>
          <a:xfrm>
            <a:off x="4179379" y="1106424"/>
            <a:ext cx="3035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EB2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NEURAL NETWORK ARCHITECTURE</a:t>
            </a:r>
            <a:endParaRPr lang="en-US" sz="950" dirty="0">
              <a:latin typeface="Aptos" panose="020B0004020202020204" pitchFamily="34" charset="0"/>
            </a:endParaRPr>
          </a:p>
        </p:txBody>
      </p:sp>
      <p:sp>
        <p:nvSpPr>
          <p:cNvPr id="65" name="Text 59"/>
          <p:cNvSpPr/>
          <p:nvPr/>
        </p:nvSpPr>
        <p:spPr>
          <a:xfrm>
            <a:off x="3895344" y="1364742"/>
            <a:ext cx="3310128" cy="2560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8F4F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Input (13 features) → Dense 64 ReLU (0.3 dropout) → Dense 32 ReLU (0.2) → Dense 16 ReLU (0.2) → Sigmoid Output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66" name="Shape 60"/>
          <p:cNvSpPr/>
          <p:nvPr/>
        </p:nvSpPr>
        <p:spPr>
          <a:xfrm>
            <a:off x="3922774" y="1769364"/>
            <a:ext cx="530352" cy="420624"/>
          </a:xfrm>
          <a:prstGeom prst="rect">
            <a:avLst/>
          </a:prstGeom>
          <a:solidFill>
            <a:srgbClr val="1F4068"/>
          </a:solidFill>
          <a:ln w="6350">
            <a:solidFill>
              <a:srgbClr val="1EB2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1"/>
          <p:cNvSpPr/>
          <p:nvPr/>
        </p:nvSpPr>
        <p:spPr>
          <a:xfrm>
            <a:off x="3927537" y="1773936"/>
            <a:ext cx="530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700" dirty="0"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13 feat.</a:t>
            </a:r>
            <a:endParaRPr lang="en-US" sz="700" dirty="0">
              <a:latin typeface="Aptos" panose="020B0004020202020204" pitchFamily="34" charset="0"/>
            </a:endParaRPr>
          </a:p>
        </p:txBody>
      </p:sp>
      <p:sp>
        <p:nvSpPr>
          <p:cNvPr id="68" name="Shape 62"/>
          <p:cNvSpPr/>
          <p:nvPr/>
        </p:nvSpPr>
        <p:spPr>
          <a:xfrm>
            <a:off x="4462272" y="1992630"/>
            <a:ext cx="128016" cy="0"/>
          </a:xfrm>
          <a:prstGeom prst="line">
            <a:avLst/>
          </a:prstGeom>
          <a:noFill/>
          <a:ln w="9525">
            <a:solidFill>
              <a:srgbClr val="A8C0C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9" name="Shape 63"/>
          <p:cNvSpPr/>
          <p:nvPr/>
        </p:nvSpPr>
        <p:spPr>
          <a:xfrm>
            <a:off x="4581906" y="1826323"/>
            <a:ext cx="530352" cy="347472"/>
          </a:xfrm>
          <a:prstGeom prst="rect">
            <a:avLst/>
          </a:prstGeom>
          <a:solidFill>
            <a:srgbClr val="1A3A6B"/>
          </a:solidFill>
          <a:ln w="6350">
            <a:solidFill>
              <a:srgbClr val="1EB2E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0" name="Text 64"/>
          <p:cNvSpPr/>
          <p:nvPr/>
        </p:nvSpPr>
        <p:spPr>
          <a:xfrm>
            <a:off x="4581142" y="1816417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700" dirty="0"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700" dirty="0">
              <a:latin typeface="Aptos" panose="020B0004020202020204" pitchFamily="34" charset="0"/>
            </a:endParaRPr>
          </a:p>
        </p:txBody>
      </p:sp>
      <p:sp>
        <p:nvSpPr>
          <p:cNvPr id="71" name="Shape 65"/>
          <p:cNvSpPr/>
          <p:nvPr/>
        </p:nvSpPr>
        <p:spPr>
          <a:xfrm>
            <a:off x="5120640" y="1992630"/>
            <a:ext cx="128016" cy="0"/>
          </a:xfrm>
          <a:prstGeom prst="line">
            <a:avLst/>
          </a:prstGeom>
          <a:noFill/>
          <a:ln w="9525">
            <a:solidFill>
              <a:srgbClr val="A8C0C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2" name="Shape 66"/>
          <p:cNvSpPr/>
          <p:nvPr/>
        </p:nvSpPr>
        <p:spPr>
          <a:xfrm>
            <a:off x="5221223" y="1874520"/>
            <a:ext cx="530352" cy="274320"/>
          </a:xfrm>
          <a:prstGeom prst="rect">
            <a:avLst/>
          </a:prstGeom>
          <a:solidFill>
            <a:srgbClr val="1A4B7A"/>
          </a:solidFill>
          <a:ln w="6350">
            <a:solidFill>
              <a:srgbClr val="1EB2E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3" name="Text 67"/>
          <p:cNvSpPr/>
          <p:nvPr/>
        </p:nvSpPr>
        <p:spPr>
          <a:xfrm>
            <a:off x="5230364" y="187452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700" dirty="0"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700" dirty="0">
              <a:latin typeface="Aptos" panose="020B0004020202020204" pitchFamily="34" charset="0"/>
            </a:endParaRPr>
          </a:p>
        </p:txBody>
      </p:sp>
      <p:sp>
        <p:nvSpPr>
          <p:cNvPr id="74" name="Shape 68"/>
          <p:cNvSpPr/>
          <p:nvPr/>
        </p:nvSpPr>
        <p:spPr>
          <a:xfrm>
            <a:off x="5760716" y="1996249"/>
            <a:ext cx="128016" cy="0"/>
          </a:xfrm>
          <a:prstGeom prst="line">
            <a:avLst/>
          </a:prstGeom>
          <a:noFill/>
          <a:ln w="9525">
            <a:solidFill>
              <a:srgbClr val="A8C0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Shape 69"/>
          <p:cNvSpPr/>
          <p:nvPr/>
        </p:nvSpPr>
        <p:spPr>
          <a:xfrm>
            <a:off x="5888732" y="1899475"/>
            <a:ext cx="530352" cy="201168"/>
          </a:xfrm>
          <a:prstGeom prst="rect">
            <a:avLst/>
          </a:prstGeom>
          <a:solidFill>
            <a:srgbClr val="1A5C88"/>
          </a:solidFill>
          <a:ln w="6350">
            <a:solidFill>
              <a:srgbClr val="1EB2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70"/>
          <p:cNvSpPr/>
          <p:nvPr/>
        </p:nvSpPr>
        <p:spPr>
          <a:xfrm>
            <a:off x="5897878" y="1899475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700" dirty="0"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00" dirty="0">
              <a:latin typeface="Aptos" panose="020B0004020202020204" pitchFamily="34" charset="0"/>
            </a:endParaRPr>
          </a:p>
        </p:txBody>
      </p:sp>
      <p:sp>
        <p:nvSpPr>
          <p:cNvPr id="77" name="Shape 71"/>
          <p:cNvSpPr/>
          <p:nvPr/>
        </p:nvSpPr>
        <p:spPr>
          <a:xfrm>
            <a:off x="6419084" y="2003678"/>
            <a:ext cx="128016" cy="0"/>
          </a:xfrm>
          <a:prstGeom prst="line">
            <a:avLst/>
          </a:prstGeom>
          <a:noFill/>
          <a:ln w="9525">
            <a:solidFill>
              <a:srgbClr val="A8C0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Shape 72"/>
          <p:cNvSpPr/>
          <p:nvPr/>
        </p:nvSpPr>
        <p:spPr>
          <a:xfrm>
            <a:off x="6537954" y="1899475"/>
            <a:ext cx="530352" cy="185357"/>
          </a:xfrm>
          <a:prstGeom prst="rect">
            <a:avLst/>
          </a:prstGeom>
          <a:solidFill>
            <a:srgbClr val="E94560"/>
          </a:solidFill>
          <a:ln w="6350">
            <a:solidFill>
              <a:srgbClr val="1EB2E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9" name="Text 73"/>
          <p:cNvSpPr/>
          <p:nvPr/>
        </p:nvSpPr>
        <p:spPr>
          <a:xfrm>
            <a:off x="6547100" y="1899475"/>
            <a:ext cx="530352" cy="202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700" dirty="0"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700" dirty="0">
              <a:latin typeface="Aptos" panose="020B0004020202020204" pitchFamily="34" charset="0"/>
            </a:endParaRPr>
          </a:p>
        </p:txBody>
      </p:sp>
      <p:sp>
        <p:nvSpPr>
          <p:cNvPr id="80" name="Text 74"/>
          <p:cNvSpPr/>
          <p:nvPr/>
        </p:nvSpPr>
        <p:spPr>
          <a:xfrm>
            <a:off x="3922774" y="2307717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C0C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Adam lr=0.001  |  Binary Cross-Entropy  |  Class Weights Applied  |  Early Stopping (patience=25)</a:t>
            </a:r>
            <a:endParaRPr lang="en-US" sz="800" dirty="0">
              <a:latin typeface="Aptos" panose="020B0004020202020204" pitchFamily="34" charset="0"/>
            </a:endParaRPr>
          </a:p>
        </p:txBody>
      </p:sp>
      <p:sp>
        <p:nvSpPr>
          <p:cNvPr id="81" name="Shape 75"/>
          <p:cNvSpPr/>
          <p:nvPr/>
        </p:nvSpPr>
        <p:spPr>
          <a:xfrm>
            <a:off x="3822192" y="2615184"/>
            <a:ext cx="3493008" cy="1847088"/>
          </a:xfrm>
          <a:prstGeom prst="rect">
            <a:avLst/>
          </a:prstGeom>
          <a:solidFill>
            <a:srgbClr val="162447"/>
          </a:solidFill>
          <a:ln w="12700">
            <a:solidFill>
              <a:srgbClr val="1A2E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2" name="Shape 76"/>
          <p:cNvSpPr/>
          <p:nvPr/>
        </p:nvSpPr>
        <p:spPr>
          <a:xfrm>
            <a:off x="3822192" y="2619756"/>
            <a:ext cx="3493008" cy="301752"/>
          </a:xfrm>
          <a:prstGeom prst="rect">
            <a:avLst/>
          </a:prstGeom>
          <a:solidFill>
            <a:srgbClr val="1F4068"/>
          </a:solidFill>
          <a:ln w="12700">
            <a:solidFill>
              <a:srgbClr val="1F40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Shape 77"/>
          <p:cNvSpPr/>
          <p:nvPr/>
        </p:nvSpPr>
        <p:spPr>
          <a:xfrm>
            <a:off x="3822192" y="2619756"/>
            <a:ext cx="64008" cy="3017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1920" y="2653855"/>
            <a:ext cx="201168" cy="201168"/>
          </a:xfrm>
          <a:prstGeom prst="rect">
            <a:avLst/>
          </a:prstGeom>
        </p:spPr>
      </p:pic>
      <p:sp>
        <p:nvSpPr>
          <p:cNvPr id="85" name="Text 78"/>
          <p:cNvSpPr/>
          <p:nvPr/>
        </p:nvSpPr>
        <p:spPr>
          <a:xfrm>
            <a:off x="4179379" y="2670048"/>
            <a:ext cx="3035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EB2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FEDERATED LEARNING (FL)</a:t>
            </a:r>
            <a:endParaRPr lang="en-US" sz="950" dirty="0">
              <a:latin typeface="Aptos" panose="020B0004020202020204" pitchFamily="34" charset="0"/>
            </a:endParaRPr>
          </a:p>
        </p:txBody>
      </p:sp>
      <p:sp>
        <p:nvSpPr>
          <p:cNvPr id="86" name="Text 79"/>
          <p:cNvSpPr/>
          <p:nvPr/>
        </p:nvSpPr>
        <p:spPr>
          <a:xfrm>
            <a:off x="3854196" y="2894457"/>
            <a:ext cx="3310128" cy="43891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Each of 5 clients trains a local copy of the global model on its private data for 10 local epochs. Only model weights — never raw patient data — are sent to the server for FedAvg aggregation. 50 communication rounds total.</a:t>
            </a:r>
            <a:endParaRPr lang="en-US" sz="950" dirty="0">
              <a:latin typeface="Aptos" panose="020B0004020202020204" pitchFamily="34" charset="0"/>
            </a:endParaRPr>
          </a:p>
        </p:txBody>
      </p:sp>
      <p:sp>
        <p:nvSpPr>
          <p:cNvPr id="87" name="Shape 80"/>
          <p:cNvSpPr/>
          <p:nvPr/>
        </p:nvSpPr>
        <p:spPr>
          <a:xfrm>
            <a:off x="3959352" y="3602736"/>
            <a:ext cx="557784" cy="274320"/>
          </a:xfrm>
          <a:prstGeom prst="rect">
            <a:avLst/>
          </a:prstGeom>
          <a:solidFill>
            <a:srgbClr val="1F4068"/>
          </a:solidFill>
          <a:ln w="9525">
            <a:solidFill>
              <a:srgbClr val="1EB2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ext 81"/>
          <p:cNvSpPr/>
          <p:nvPr/>
        </p:nvSpPr>
        <p:spPr>
          <a:xfrm>
            <a:off x="3959352" y="3621024"/>
            <a:ext cx="557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8F4F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Hospital 1</a:t>
            </a:r>
            <a:endParaRPr lang="en-US" sz="700" dirty="0">
              <a:latin typeface="Aptos" panose="020B0004020202020204" pitchFamily="34" charset="0"/>
            </a:endParaRPr>
          </a:p>
        </p:txBody>
      </p:sp>
      <p:sp>
        <p:nvSpPr>
          <p:cNvPr id="89" name="Shape 82"/>
          <p:cNvSpPr/>
          <p:nvPr/>
        </p:nvSpPr>
        <p:spPr>
          <a:xfrm>
            <a:off x="4238244" y="3877056"/>
            <a:ext cx="0" cy="182880"/>
          </a:xfrm>
          <a:prstGeom prst="line">
            <a:avLst/>
          </a:prstGeom>
          <a:noFill/>
          <a:ln w="12700">
            <a:solidFill>
              <a:srgbClr val="1EB2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3"/>
          <p:cNvSpPr/>
          <p:nvPr/>
        </p:nvSpPr>
        <p:spPr>
          <a:xfrm>
            <a:off x="4608576" y="3602736"/>
            <a:ext cx="557784" cy="274320"/>
          </a:xfrm>
          <a:prstGeom prst="rect">
            <a:avLst/>
          </a:prstGeom>
          <a:solidFill>
            <a:srgbClr val="1F4068"/>
          </a:solidFill>
          <a:ln w="9525">
            <a:solidFill>
              <a:srgbClr val="1EB2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Text 84"/>
          <p:cNvSpPr/>
          <p:nvPr/>
        </p:nvSpPr>
        <p:spPr>
          <a:xfrm>
            <a:off x="4608576" y="3621024"/>
            <a:ext cx="557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8F4F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Hospital 2</a:t>
            </a:r>
            <a:endParaRPr lang="en-US" sz="700" dirty="0">
              <a:latin typeface="Aptos" panose="020B0004020202020204" pitchFamily="34" charset="0"/>
            </a:endParaRPr>
          </a:p>
        </p:txBody>
      </p:sp>
      <p:sp>
        <p:nvSpPr>
          <p:cNvPr id="92" name="Shape 85"/>
          <p:cNvSpPr/>
          <p:nvPr/>
        </p:nvSpPr>
        <p:spPr>
          <a:xfrm>
            <a:off x="4887468" y="3877056"/>
            <a:ext cx="0" cy="182880"/>
          </a:xfrm>
          <a:prstGeom prst="line">
            <a:avLst/>
          </a:prstGeom>
          <a:noFill/>
          <a:ln w="12700">
            <a:solidFill>
              <a:srgbClr val="1EB2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Shape 86"/>
          <p:cNvSpPr/>
          <p:nvPr/>
        </p:nvSpPr>
        <p:spPr>
          <a:xfrm>
            <a:off x="5257800" y="3602736"/>
            <a:ext cx="557784" cy="274320"/>
          </a:xfrm>
          <a:prstGeom prst="rect">
            <a:avLst/>
          </a:prstGeom>
          <a:solidFill>
            <a:srgbClr val="1F4068"/>
          </a:solidFill>
          <a:ln w="9525">
            <a:solidFill>
              <a:srgbClr val="1EB2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4" name="Text 87"/>
          <p:cNvSpPr/>
          <p:nvPr/>
        </p:nvSpPr>
        <p:spPr>
          <a:xfrm>
            <a:off x="5257800" y="3621024"/>
            <a:ext cx="557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8F4F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Hospital 3</a:t>
            </a:r>
            <a:endParaRPr lang="en-US" sz="700" dirty="0">
              <a:latin typeface="Aptos" panose="020B0004020202020204" pitchFamily="34" charset="0"/>
            </a:endParaRPr>
          </a:p>
        </p:txBody>
      </p:sp>
      <p:sp>
        <p:nvSpPr>
          <p:cNvPr id="95" name="Shape 88"/>
          <p:cNvSpPr/>
          <p:nvPr/>
        </p:nvSpPr>
        <p:spPr>
          <a:xfrm>
            <a:off x="5536692" y="3877056"/>
            <a:ext cx="0" cy="182880"/>
          </a:xfrm>
          <a:prstGeom prst="line">
            <a:avLst/>
          </a:prstGeom>
          <a:noFill/>
          <a:ln w="12700">
            <a:solidFill>
              <a:srgbClr val="1EB2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Shape 89"/>
          <p:cNvSpPr/>
          <p:nvPr/>
        </p:nvSpPr>
        <p:spPr>
          <a:xfrm>
            <a:off x="5907024" y="3602736"/>
            <a:ext cx="557784" cy="274320"/>
          </a:xfrm>
          <a:prstGeom prst="rect">
            <a:avLst/>
          </a:prstGeom>
          <a:solidFill>
            <a:srgbClr val="1F4068"/>
          </a:solidFill>
          <a:ln w="9525">
            <a:solidFill>
              <a:srgbClr val="1EB2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Text 90"/>
          <p:cNvSpPr/>
          <p:nvPr/>
        </p:nvSpPr>
        <p:spPr>
          <a:xfrm>
            <a:off x="5907024" y="3621024"/>
            <a:ext cx="557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8F4F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Hospital 4</a:t>
            </a:r>
            <a:endParaRPr lang="en-US" sz="700" dirty="0">
              <a:latin typeface="Aptos" panose="020B0004020202020204" pitchFamily="34" charset="0"/>
            </a:endParaRPr>
          </a:p>
        </p:txBody>
      </p:sp>
      <p:sp>
        <p:nvSpPr>
          <p:cNvPr id="98" name="Shape 91"/>
          <p:cNvSpPr/>
          <p:nvPr/>
        </p:nvSpPr>
        <p:spPr>
          <a:xfrm>
            <a:off x="6185916" y="3877056"/>
            <a:ext cx="0" cy="182880"/>
          </a:xfrm>
          <a:prstGeom prst="line">
            <a:avLst/>
          </a:prstGeom>
          <a:noFill/>
          <a:ln w="12700">
            <a:solidFill>
              <a:srgbClr val="1EB2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" name="Shape 92"/>
          <p:cNvSpPr/>
          <p:nvPr/>
        </p:nvSpPr>
        <p:spPr>
          <a:xfrm>
            <a:off x="6556248" y="3602736"/>
            <a:ext cx="557784" cy="274320"/>
          </a:xfrm>
          <a:prstGeom prst="rect">
            <a:avLst/>
          </a:prstGeom>
          <a:solidFill>
            <a:srgbClr val="1F4068"/>
          </a:solidFill>
          <a:ln w="9525">
            <a:solidFill>
              <a:srgbClr val="1EB2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Text 93"/>
          <p:cNvSpPr/>
          <p:nvPr/>
        </p:nvSpPr>
        <p:spPr>
          <a:xfrm>
            <a:off x="6556248" y="3621024"/>
            <a:ext cx="557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8F4F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Hospital 5</a:t>
            </a:r>
            <a:endParaRPr lang="en-US" sz="700" dirty="0">
              <a:latin typeface="Aptos" panose="020B0004020202020204" pitchFamily="34" charset="0"/>
            </a:endParaRPr>
          </a:p>
        </p:txBody>
      </p:sp>
      <p:sp>
        <p:nvSpPr>
          <p:cNvPr id="101" name="Shape 94"/>
          <p:cNvSpPr/>
          <p:nvPr/>
        </p:nvSpPr>
        <p:spPr>
          <a:xfrm>
            <a:off x="6835140" y="3877056"/>
            <a:ext cx="0" cy="182880"/>
          </a:xfrm>
          <a:prstGeom prst="line">
            <a:avLst/>
          </a:prstGeom>
          <a:noFill/>
          <a:ln w="12700">
            <a:solidFill>
              <a:srgbClr val="1EB2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2" name="Shape 95"/>
          <p:cNvSpPr/>
          <p:nvPr/>
        </p:nvSpPr>
        <p:spPr>
          <a:xfrm>
            <a:off x="4654294" y="3986784"/>
            <a:ext cx="1828800" cy="29260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6"/>
          <p:cNvSpPr/>
          <p:nvPr/>
        </p:nvSpPr>
        <p:spPr>
          <a:xfrm>
            <a:off x="4636008" y="39867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FedAvg Server (Aggregation)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104" name="Text 97"/>
          <p:cNvSpPr/>
          <p:nvPr/>
        </p:nvSpPr>
        <p:spPr>
          <a:xfrm>
            <a:off x="3840476" y="4288536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B2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✓ Raw data never leaves client device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105" name="Shape 98"/>
          <p:cNvSpPr/>
          <p:nvPr/>
        </p:nvSpPr>
        <p:spPr>
          <a:xfrm>
            <a:off x="3822192" y="4681728"/>
            <a:ext cx="3493008" cy="1664208"/>
          </a:xfrm>
          <a:prstGeom prst="rect">
            <a:avLst/>
          </a:prstGeom>
          <a:solidFill>
            <a:srgbClr val="162447"/>
          </a:solidFill>
          <a:ln w="12700">
            <a:solidFill>
              <a:srgbClr val="1A2E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6" name="Shape 99"/>
          <p:cNvSpPr/>
          <p:nvPr/>
        </p:nvSpPr>
        <p:spPr>
          <a:xfrm>
            <a:off x="3822192" y="4681728"/>
            <a:ext cx="3450146" cy="246888"/>
          </a:xfrm>
          <a:prstGeom prst="rect">
            <a:avLst/>
          </a:prstGeom>
          <a:solidFill>
            <a:srgbClr val="1F4068"/>
          </a:solidFill>
          <a:ln w="12700">
            <a:solidFill>
              <a:srgbClr val="1F40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7" name="Shape 100"/>
          <p:cNvSpPr/>
          <p:nvPr/>
        </p:nvSpPr>
        <p:spPr>
          <a:xfrm>
            <a:off x="3822191" y="4681728"/>
            <a:ext cx="100583" cy="24688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31920" y="4698111"/>
            <a:ext cx="201168" cy="201168"/>
          </a:xfrm>
          <a:prstGeom prst="rect">
            <a:avLst/>
          </a:prstGeom>
        </p:spPr>
      </p:pic>
      <p:sp>
        <p:nvSpPr>
          <p:cNvPr id="109" name="Text 101"/>
          <p:cNvSpPr/>
          <p:nvPr/>
        </p:nvSpPr>
        <p:spPr>
          <a:xfrm>
            <a:off x="4162234" y="4694682"/>
            <a:ext cx="3035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EB2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SPLIT LEARNING (SL)</a:t>
            </a:r>
            <a:endParaRPr lang="en-US" sz="950" dirty="0">
              <a:latin typeface="Aptos" panose="020B0004020202020204" pitchFamily="34" charset="0"/>
            </a:endParaRPr>
          </a:p>
        </p:txBody>
      </p:sp>
      <p:sp>
        <p:nvSpPr>
          <p:cNvPr id="110" name="Text 102"/>
          <p:cNvSpPr/>
          <p:nvPr/>
        </p:nvSpPr>
        <p:spPr>
          <a:xfrm>
            <a:off x="3886200" y="4869180"/>
            <a:ext cx="3310128" cy="43891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Neural network split at cut layer (Dense 32). Client processes raw input through first layers only, sending intermediate activations (smashed data) to server. 100 epochs, sequential per client.</a:t>
            </a:r>
            <a:endParaRPr lang="en-US" sz="950" dirty="0">
              <a:latin typeface="Aptos" panose="020B0004020202020204" pitchFamily="34" charset="0"/>
            </a:endParaRPr>
          </a:p>
        </p:txBody>
      </p:sp>
      <p:sp>
        <p:nvSpPr>
          <p:cNvPr id="111" name="Shape 103"/>
          <p:cNvSpPr/>
          <p:nvPr/>
        </p:nvSpPr>
        <p:spPr>
          <a:xfrm>
            <a:off x="3959352" y="5541264"/>
            <a:ext cx="1280160" cy="502920"/>
          </a:xfrm>
          <a:prstGeom prst="rect">
            <a:avLst/>
          </a:prstGeom>
          <a:solidFill>
            <a:srgbClr val="1F4068"/>
          </a:solidFill>
          <a:ln w="12700">
            <a:solidFill>
              <a:srgbClr val="1EB2E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2" name="Text 104"/>
          <p:cNvSpPr/>
          <p:nvPr/>
        </p:nvSpPr>
        <p:spPr>
          <a:xfrm>
            <a:off x="3959352" y="5541264"/>
            <a:ext cx="12801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F4F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800" dirty="0"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E8F4F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Input → Dense 64 → Dense 32</a:t>
            </a:r>
            <a:endParaRPr lang="en-US" sz="800" dirty="0">
              <a:latin typeface="Aptos" panose="020B0004020202020204" pitchFamily="34" charset="0"/>
            </a:endParaRPr>
          </a:p>
        </p:txBody>
      </p:sp>
      <p:sp>
        <p:nvSpPr>
          <p:cNvPr id="113" name="Shape 105"/>
          <p:cNvSpPr/>
          <p:nvPr/>
        </p:nvSpPr>
        <p:spPr>
          <a:xfrm>
            <a:off x="5394960" y="5641848"/>
            <a:ext cx="411480" cy="274320"/>
          </a:xfrm>
          <a:prstGeom prst="rect">
            <a:avLst/>
          </a:prstGeom>
          <a:solidFill>
            <a:srgbClr val="2A1A3E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Text 106"/>
          <p:cNvSpPr/>
          <p:nvPr/>
        </p:nvSpPr>
        <p:spPr>
          <a:xfrm>
            <a:off x="5394960" y="564184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</a:t>
            </a:r>
            <a:r>
              <a:rPr lang="en-US" sz="750" b="1" dirty="0">
                <a:solidFill>
                  <a:srgbClr val="E9456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CUT</a:t>
            </a:r>
            <a:endParaRPr lang="en-US" sz="750" dirty="0">
              <a:latin typeface="Aptos" panose="020B0004020202020204" pitchFamily="34" charset="0"/>
            </a:endParaRPr>
          </a:p>
        </p:txBody>
      </p:sp>
      <p:sp>
        <p:nvSpPr>
          <p:cNvPr id="115" name="Shape 107"/>
          <p:cNvSpPr/>
          <p:nvPr/>
        </p:nvSpPr>
        <p:spPr>
          <a:xfrm>
            <a:off x="5907024" y="5541264"/>
            <a:ext cx="1280160" cy="502920"/>
          </a:xfrm>
          <a:prstGeom prst="rect">
            <a:avLst/>
          </a:prstGeom>
          <a:solidFill>
            <a:srgbClr val="1F4068"/>
          </a:solidFill>
          <a:ln w="12700">
            <a:solidFill>
              <a:srgbClr val="1EB2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6" name="Text 108"/>
          <p:cNvSpPr/>
          <p:nvPr/>
        </p:nvSpPr>
        <p:spPr>
          <a:xfrm>
            <a:off x="5907024" y="5541264"/>
            <a:ext cx="12801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F4F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800" dirty="0"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E8F4F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Dense 16 → Sigmoid Output</a:t>
            </a:r>
            <a:endParaRPr lang="en-US" sz="800" dirty="0">
              <a:latin typeface="Aptos" panose="020B0004020202020204" pitchFamily="34" charset="0"/>
            </a:endParaRPr>
          </a:p>
        </p:txBody>
      </p:sp>
      <p:sp>
        <p:nvSpPr>
          <p:cNvPr id="117" name="Text 109"/>
          <p:cNvSpPr/>
          <p:nvPr/>
        </p:nvSpPr>
        <p:spPr>
          <a:xfrm>
            <a:off x="3959352" y="6108192"/>
            <a:ext cx="3218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C0C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"Smashed Data" (activations only) →</a:t>
            </a:r>
            <a:endParaRPr lang="en-US" sz="850" dirty="0">
              <a:latin typeface="Aptos" panose="020B0004020202020204" pitchFamily="34" charset="0"/>
            </a:endParaRPr>
          </a:p>
        </p:txBody>
      </p:sp>
      <p:sp>
        <p:nvSpPr>
          <p:cNvPr id="118" name="Shape 110"/>
          <p:cNvSpPr/>
          <p:nvPr/>
        </p:nvSpPr>
        <p:spPr>
          <a:xfrm>
            <a:off x="3822192" y="6437376"/>
            <a:ext cx="3493008" cy="1572768"/>
          </a:xfrm>
          <a:prstGeom prst="rect">
            <a:avLst/>
          </a:prstGeom>
          <a:solidFill>
            <a:srgbClr val="162447"/>
          </a:solidFill>
          <a:ln w="12700">
            <a:solidFill>
              <a:srgbClr val="1A2E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9" name="Shape 111"/>
          <p:cNvSpPr/>
          <p:nvPr/>
        </p:nvSpPr>
        <p:spPr>
          <a:xfrm>
            <a:off x="3822192" y="6437376"/>
            <a:ext cx="3493006" cy="265176"/>
          </a:xfrm>
          <a:prstGeom prst="rect">
            <a:avLst/>
          </a:prstGeom>
          <a:solidFill>
            <a:srgbClr val="1F4068"/>
          </a:solidFill>
          <a:ln w="12700">
            <a:solidFill>
              <a:srgbClr val="1F40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0" name="Shape 112"/>
          <p:cNvSpPr/>
          <p:nvPr/>
        </p:nvSpPr>
        <p:spPr>
          <a:xfrm>
            <a:off x="3822192" y="6437376"/>
            <a:ext cx="64008" cy="265176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31920" y="6483096"/>
            <a:ext cx="201168" cy="201168"/>
          </a:xfrm>
          <a:prstGeom prst="rect">
            <a:avLst/>
          </a:prstGeom>
        </p:spPr>
      </p:pic>
      <p:sp>
        <p:nvSpPr>
          <p:cNvPr id="122" name="Text 113"/>
          <p:cNvSpPr/>
          <p:nvPr/>
        </p:nvSpPr>
        <p:spPr>
          <a:xfrm>
            <a:off x="4169664" y="6473952"/>
            <a:ext cx="3035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EB2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SPLIT-FED LEARNING (SFL)</a:t>
            </a:r>
            <a:endParaRPr lang="en-US" sz="950" dirty="0">
              <a:latin typeface="Aptos" panose="020B0004020202020204" pitchFamily="34" charset="0"/>
            </a:endParaRPr>
          </a:p>
        </p:txBody>
      </p:sp>
      <p:sp>
        <p:nvSpPr>
          <p:cNvPr id="123" name="Text 114"/>
          <p:cNvSpPr/>
          <p:nvPr/>
        </p:nvSpPr>
        <p:spPr>
          <a:xfrm>
            <a:off x="3862320" y="6647688"/>
            <a:ext cx="3310128" cy="47548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Hybrid of FL + SL: all 5 clients train client-side models in parallel (FL-style), then FedAvg aggregates client-side weights. Aggregated smashed data passes sequentially to shared server model. 50 rounds, 10 local epochs.</a:t>
            </a:r>
            <a:endParaRPr lang="en-US" sz="950" dirty="0">
              <a:latin typeface="Aptos" panose="020B0004020202020204" pitchFamily="34" charset="0"/>
            </a:endParaRPr>
          </a:p>
        </p:txBody>
      </p:sp>
      <p:sp>
        <p:nvSpPr>
          <p:cNvPr id="124" name="Shape 115"/>
          <p:cNvSpPr/>
          <p:nvPr/>
        </p:nvSpPr>
        <p:spPr>
          <a:xfrm>
            <a:off x="4187952" y="7333488"/>
            <a:ext cx="2761488" cy="365760"/>
          </a:xfrm>
          <a:prstGeom prst="rect">
            <a:avLst/>
          </a:prstGeom>
          <a:solidFill>
            <a:srgbClr val="1A2E52"/>
          </a:solidFill>
          <a:ln w="12700">
            <a:solidFill>
              <a:srgbClr val="1EB2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5" name="Text 116"/>
          <p:cNvSpPr/>
          <p:nvPr/>
        </p:nvSpPr>
        <p:spPr>
          <a:xfrm>
            <a:off x="4187952" y="7333488"/>
            <a:ext cx="2761488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Parallel Client Training  ➜  FedAvg  ➜  Server Update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126" name="Text 117"/>
          <p:cNvSpPr/>
          <p:nvPr/>
        </p:nvSpPr>
        <p:spPr>
          <a:xfrm>
            <a:off x="3913632" y="7772400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B2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✓ Best of both worlds: parallelism + reduced communication overhead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127" name="Shape 118"/>
          <p:cNvSpPr/>
          <p:nvPr/>
        </p:nvSpPr>
        <p:spPr>
          <a:xfrm>
            <a:off x="7452360" y="1060704"/>
            <a:ext cx="3493008" cy="6949440"/>
          </a:xfrm>
          <a:prstGeom prst="rect">
            <a:avLst/>
          </a:prstGeom>
          <a:solidFill>
            <a:srgbClr val="162447"/>
          </a:solidFill>
          <a:ln w="12700">
            <a:solidFill>
              <a:srgbClr val="1A2E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8" name="Shape 119"/>
          <p:cNvSpPr/>
          <p:nvPr/>
        </p:nvSpPr>
        <p:spPr>
          <a:xfrm>
            <a:off x="7452360" y="1062990"/>
            <a:ext cx="3493008" cy="301752"/>
          </a:xfrm>
          <a:prstGeom prst="rect">
            <a:avLst/>
          </a:prstGeom>
          <a:solidFill>
            <a:srgbClr val="1F4068"/>
          </a:solidFill>
          <a:ln w="12700">
            <a:solidFill>
              <a:srgbClr val="1F40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9" name="Shape 120"/>
          <p:cNvSpPr/>
          <p:nvPr/>
        </p:nvSpPr>
        <p:spPr>
          <a:xfrm>
            <a:off x="7461501" y="1056132"/>
            <a:ext cx="64008" cy="3017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8664" y="1104138"/>
            <a:ext cx="201168" cy="201168"/>
          </a:xfrm>
          <a:prstGeom prst="rect">
            <a:avLst/>
          </a:prstGeom>
        </p:spPr>
      </p:pic>
      <p:sp>
        <p:nvSpPr>
          <p:cNvPr id="131" name="Text 121"/>
          <p:cNvSpPr/>
          <p:nvPr/>
        </p:nvSpPr>
        <p:spPr>
          <a:xfrm>
            <a:off x="7845552" y="1088136"/>
            <a:ext cx="3035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EB2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RESULTS &amp; ANALYSIS</a:t>
            </a:r>
            <a:endParaRPr lang="en-US" sz="950" dirty="0">
              <a:latin typeface="Aptos" panose="020B0004020202020204" pitchFamily="34" charset="0"/>
            </a:endParaRPr>
          </a:p>
        </p:txBody>
      </p:sp>
      <p:sp>
        <p:nvSpPr>
          <p:cNvPr id="132" name="Shape 122"/>
          <p:cNvSpPr/>
          <p:nvPr/>
        </p:nvSpPr>
        <p:spPr>
          <a:xfrm>
            <a:off x="7543800" y="1440434"/>
            <a:ext cx="3310128" cy="237744"/>
          </a:xfrm>
          <a:prstGeom prst="rect">
            <a:avLst/>
          </a:prstGeom>
          <a:solidFill>
            <a:srgbClr val="1F4068"/>
          </a:solidFill>
          <a:ln w="19050">
            <a:solidFill>
              <a:srgbClr val="4B7B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3" name="Shape 123"/>
          <p:cNvSpPr/>
          <p:nvPr/>
        </p:nvSpPr>
        <p:spPr>
          <a:xfrm>
            <a:off x="7558278" y="1440434"/>
            <a:ext cx="73152" cy="237744"/>
          </a:xfrm>
          <a:prstGeom prst="rect">
            <a:avLst/>
          </a:prstGeom>
          <a:solidFill>
            <a:srgbClr val="4B7BEC"/>
          </a:solidFill>
          <a:ln w="12700">
            <a:solidFill>
              <a:srgbClr val="4B7B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4" name="Text 124"/>
          <p:cNvSpPr/>
          <p:nvPr/>
        </p:nvSpPr>
        <p:spPr>
          <a:xfrm>
            <a:off x="7699248" y="144475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50" dirty="0">
              <a:latin typeface="Aptos" panose="020B0004020202020204" pitchFamily="34" charset="0"/>
            </a:endParaRPr>
          </a:p>
        </p:txBody>
      </p:sp>
      <p:sp>
        <p:nvSpPr>
          <p:cNvPr id="135" name="Text 125"/>
          <p:cNvSpPr/>
          <p:nvPr/>
        </p:nvSpPr>
        <p:spPr>
          <a:xfrm>
            <a:off x="9198864" y="144043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C0C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Peak: Epoch 41</a:t>
            </a:r>
            <a:endParaRPr lang="en-US" sz="850" dirty="0">
              <a:latin typeface="Aptos" panose="020B0004020202020204" pitchFamily="34" charset="0"/>
            </a:endParaRPr>
          </a:p>
        </p:txBody>
      </p:sp>
      <p:sp>
        <p:nvSpPr>
          <p:cNvPr id="136" name="Shape 126"/>
          <p:cNvSpPr/>
          <p:nvPr/>
        </p:nvSpPr>
        <p:spPr>
          <a:xfrm>
            <a:off x="7543800" y="1801368"/>
            <a:ext cx="3310128" cy="530352"/>
          </a:xfrm>
          <a:prstGeom prst="rect">
            <a:avLst/>
          </a:prstGeom>
          <a:solidFill>
            <a:srgbClr val="0D1E3A"/>
          </a:solidFill>
          <a:ln w="6350">
            <a:solidFill>
              <a:srgbClr val="1A2E5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7" name="Text 127"/>
          <p:cNvSpPr/>
          <p:nvPr/>
        </p:nvSpPr>
        <p:spPr>
          <a:xfrm>
            <a:off x="7616952" y="17327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B7BE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83.70%</a:t>
            </a:r>
            <a:endParaRPr lang="en-US" sz="2600" dirty="0">
              <a:latin typeface="Aptos" panose="020B0004020202020204" pitchFamily="34" charset="0"/>
            </a:endParaRPr>
          </a:p>
        </p:txBody>
      </p:sp>
      <p:sp>
        <p:nvSpPr>
          <p:cNvPr id="138" name="Text 128"/>
          <p:cNvSpPr/>
          <p:nvPr/>
        </p:nvSpPr>
        <p:spPr>
          <a:xfrm>
            <a:off x="7616952" y="20848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C0C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750" dirty="0">
              <a:latin typeface="Aptos" panose="020B0004020202020204" pitchFamily="34" charset="0"/>
            </a:endParaRPr>
          </a:p>
        </p:txBody>
      </p:sp>
      <p:sp>
        <p:nvSpPr>
          <p:cNvPr id="139" name="Text 129"/>
          <p:cNvSpPr/>
          <p:nvPr/>
        </p:nvSpPr>
        <p:spPr>
          <a:xfrm>
            <a:off x="9198864" y="172542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F4F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0.3692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140" name="Text 130"/>
          <p:cNvSpPr/>
          <p:nvPr/>
        </p:nvSpPr>
        <p:spPr>
          <a:xfrm>
            <a:off x="9198864" y="20848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C0C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750" dirty="0">
              <a:latin typeface="Aptos" panose="020B0004020202020204" pitchFamily="34" charset="0"/>
            </a:endParaRPr>
          </a:p>
        </p:txBody>
      </p:sp>
      <p:sp>
        <p:nvSpPr>
          <p:cNvPr id="141" name="Shape 131"/>
          <p:cNvSpPr/>
          <p:nvPr/>
        </p:nvSpPr>
        <p:spPr>
          <a:xfrm>
            <a:off x="7571232" y="2414016"/>
            <a:ext cx="3310128" cy="237744"/>
          </a:xfrm>
          <a:prstGeom prst="rect">
            <a:avLst/>
          </a:prstGeom>
          <a:solidFill>
            <a:srgbClr val="1F4068"/>
          </a:solidFill>
          <a:ln w="19050">
            <a:solidFill>
              <a:srgbClr val="1EB2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2" name="Shape 132"/>
          <p:cNvSpPr/>
          <p:nvPr/>
        </p:nvSpPr>
        <p:spPr>
          <a:xfrm>
            <a:off x="7571232" y="2414016"/>
            <a:ext cx="73152" cy="237744"/>
          </a:xfrm>
          <a:prstGeom prst="rect">
            <a:avLst/>
          </a:prstGeom>
          <a:solidFill>
            <a:srgbClr val="1EB2E0"/>
          </a:solidFill>
          <a:ln w="12700">
            <a:solidFill>
              <a:srgbClr val="1EB2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3" name="Text 133"/>
          <p:cNvSpPr/>
          <p:nvPr/>
        </p:nvSpPr>
        <p:spPr>
          <a:xfrm>
            <a:off x="7699248" y="24140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Fed</a:t>
            </a: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95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950" dirty="0">
              <a:latin typeface="Aptos" panose="020B0004020202020204" pitchFamily="34" charset="0"/>
            </a:endParaRPr>
          </a:p>
        </p:txBody>
      </p:sp>
      <p:sp>
        <p:nvSpPr>
          <p:cNvPr id="144" name="Text 134"/>
          <p:cNvSpPr/>
          <p:nvPr/>
        </p:nvSpPr>
        <p:spPr>
          <a:xfrm>
            <a:off x="9217152" y="241401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C0C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Peak: Round 17</a:t>
            </a:r>
            <a:endParaRPr lang="en-US" sz="850" dirty="0">
              <a:latin typeface="Aptos" panose="020B0004020202020204" pitchFamily="34" charset="0"/>
            </a:endParaRPr>
          </a:p>
        </p:txBody>
      </p:sp>
      <p:sp>
        <p:nvSpPr>
          <p:cNvPr id="145" name="Shape 135"/>
          <p:cNvSpPr/>
          <p:nvPr/>
        </p:nvSpPr>
        <p:spPr>
          <a:xfrm>
            <a:off x="7571232" y="2670048"/>
            <a:ext cx="3310128" cy="530352"/>
          </a:xfrm>
          <a:prstGeom prst="rect">
            <a:avLst/>
          </a:prstGeom>
          <a:solidFill>
            <a:srgbClr val="0D1E3A"/>
          </a:solidFill>
          <a:ln w="6350">
            <a:solidFill>
              <a:srgbClr val="1A2E5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6" name="Text 136"/>
          <p:cNvSpPr/>
          <p:nvPr/>
        </p:nvSpPr>
        <p:spPr>
          <a:xfrm>
            <a:off x="7616952" y="261518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B2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84.24%</a:t>
            </a:r>
            <a:endParaRPr lang="en-US" sz="2600" dirty="0">
              <a:latin typeface="Aptos" panose="020B0004020202020204" pitchFamily="34" charset="0"/>
            </a:endParaRPr>
          </a:p>
        </p:txBody>
      </p:sp>
      <p:sp>
        <p:nvSpPr>
          <p:cNvPr id="147" name="Text 137"/>
          <p:cNvSpPr/>
          <p:nvPr/>
        </p:nvSpPr>
        <p:spPr>
          <a:xfrm>
            <a:off x="7616952" y="294436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C0C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750" dirty="0">
              <a:latin typeface="Aptos" panose="020B0004020202020204" pitchFamily="34" charset="0"/>
            </a:endParaRPr>
          </a:p>
        </p:txBody>
      </p:sp>
      <p:sp>
        <p:nvSpPr>
          <p:cNvPr id="148" name="Text 138"/>
          <p:cNvSpPr/>
          <p:nvPr/>
        </p:nvSpPr>
        <p:spPr>
          <a:xfrm>
            <a:off x="9198864" y="2626423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F4F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0.4450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149" name="Text 139"/>
          <p:cNvSpPr/>
          <p:nvPr/>
        </p:nvSpPr>
        <p:spPr>
          <a:xfrm>
            <a:off x="9198864" y="29443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C0C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750" dirty="0">
              <a:latin typeface="Aptos" panose="020B0004020202020204" pitchFamily="34" charset="0"/>
            </a:endParaRPr>
          </a:p>
        </p:txBody>
      </p:sp>
      <p:sp>
        <p:nvSpPr>
          <p:cNvPr id="150" name="Shape 140"/>
          <p:cNvSpPr/>
          <p:nvPr/>
        </p:nvSpPr>
        <p:spPr>
          <a:xfrm>
            <a:off x="7571232" y="3273552"/>
            <a:ext cx="3310128" cy="237744"/>
          </a:xfrm>
          <a:prstGeom prst="rect">
            <a:avLst/>
          </a:prstGeom>
          <a:solidFill>
            <a:srgbClr val="1F4068"/>
          </a:solidFill>
          <a:ln w="1905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1" name="Shape 141"/>
          <p:cNvSpPr/>
          <p:nvPr/>
        </p:nvSpPr>
        <p:spPr>
          <a:xfrm>
            <a:off x="7571232" y="3273552"/>
            <a:ext cx="73152" cy="23774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2" name="Text 142"/>
          <p:cNvSpPr/>
          <p:nvPr/>
        </p:nvSpPr>
        <p:spPr>
          <a:xfrm>
            <a:off x="7699248" y="327355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Split Learning</a:t>
            </a:r>
            <a:endParaRPr lang="en-US" sz="950" dirty="0">
              <a:latin typeface="Aptos" panose="020B0004020202020204" pitchFamily="34" charset="0"/>
            </a:endParaRPr>
          </a:p>
        </p:txBody>
      </p:sp>
      <p:sp>
        <p:nvSpPr>
          <p:cNvPr id="153" name="Text 143"/>
          <p:cNvSpPr/>
          <p:nvPr/>
        </p:nvSpPr>
        <p:spPr>
          <a:xfrm>
            <a:off x="9217152" y="327355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C0C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Peak: Epoch 30</a:t>
            </a:r>
            <a:endParaRPr lang="en-US" sz="850" dirty="0">
              <a:latin typeface="Aptos" panose="020B0004020202020204" pitchFamily="34" charset="0"/>
            </a:endParaRPr>
          </a:p>
        </p:txBody>
      </p:sp>
      <p:sp>
        <p:nvSpPr>
          <p:cNvPr id="154" name="Shape 144"/>
          <p:cNvSpPr/>
          <p:nvPr/>
        </p:nvSpPr>
        <p:spPr>
          <a:xfrm>
            <a:off x="7562088" y="3557016"/>
            <a:ext cx="3310128" cy="530352"/>
          </a:xfrm>
          <a:prstGeom prst="rect">
            <a:avLst/>
          </a:prstGeom>
          <a:solidFill>
            <a:srgbClr val="0D1E3A"/>
          </a:solidFill>
          <a:ln w="6350">
            <a:solidFill>
              <a:srgbClr val="1A2E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5" name="Text 145"/>
          <p:cNvSpPr/>
          <p:nvPr/>
        </p:nvSpPr>
        <p:spPr>
          <a:xfrm>
            <a:off x="7616952" y="3488055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B59B6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83.15%</a:t>
            </a:r>
            <a:endParaRPr lang="en-US" sz="2600" dirty="0">
              <a:latin typeface="Aptos" panose="020B0004020202020204" pitchFamily="34" charset="0"/>
            </a:endParaRPr>
          </a:p>
        </p:txBody>
      </p:sp>
      <p:sp>
        <p:nvSpPr>
          <p:cNvPr id="156" name="Text 146"/>
          <p:cNvSpPr/>
          <p:nvPr/>
        </p:nvSpPr>
        <p:spPr>
          <a:xfrm>
            <a:off x="7616952" y="38039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C0C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750" dirty="0">
              <a:latin typeface="Aptos" panose="020B0004020202020204" pitchFamily="34" charset="0"/>
            </a:endParaRPr>
          </a:p>
        </p:txBody>
      </p:sp>
      <p:sp>
        <p:nvSpPr>
          <p:cNvPr id="157" name="Text 147"/>
          <p:cNvSpPr/>
          <p:nvPr/>
        </p:nvSpPr>
        <p:spPr>
          <a:xfrm>
            <a:off x="9198864" y="3492627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F4F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0.3883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158" name="Text 148"/>
          <p:cNvSpPr/>
          <p:nvPr/>
        </p:nvSpPr>
        <p:spPr>
          <a:xfrm>
            <a:off x="9198864" y="380390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C0C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750" dirty="0">
              <a:latin typeface="Aptos" panose="020B0004020202020204" pitchFamily="34" charset="0"/>
            </a:endParaRPr>
          </a:p>
        </p:txBody>
      </p:sp>
      <p:sp>
        <p:nvSpPr>
          <p:cNvPr id="159" name="Shape 149"/>
          <p:cNvSpPr/>
          <p:nvPr/>
        </p:nvSpPr>
        <p:spPr>
          <a:xfrm>
            <a:off x="7571232" y="4133088"/>
            <a:ext cx="3310128" cy="237744"/>
          </a:xfrm>
          <a:prstGeom prst="rect">
            <a:avLst/>
          </a:prstGeom>
          <a:solidFill>
            <a:srgbClr val="1F4068"/>
          </a:solidFill>
          <a:ln w="190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0" name="Shape 150"/>
          <p:cNvSpPr/>
          <p:nvPr/>
        </p:nvSpPr>
        <p:spPr>
          <a:xfrm>
            <a:off x="7571232" y="4133088"/>
            <a:ext cx="73152" cy="23774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1" name="Text 151"/>
          <p:cNvSpPr/>
          <p:nvPr/>
        </p:nvSpPr>
        <p:spPr>
          <a:xfrm>
            <a:off x="7699248" y="413308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Split-Fed</a:t>
            </a:r>
            <a:endParaRPr lang="en-US" sz="950" dirty="0">
              <a:latin typeface="Aptos" panose="020B0004020202020204" pitchFamily="34" charset="0"/>
            </a:endParaRPr>
          </a:p>
        </p:txBody>
      </p:sp>
      <p:sp>
        <p:nvSpPr>
          <p:cNvPr id="162" name="Text 152"/>
          <p:cNvSpPr/>
          <p:nvPr/>
        </p:nvSpPr>
        <p:spPr>
          <a:xfrm>
            <a:off x="9217152" y="413308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C0C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Peak: Round 10</a:t>
            </a:r>
            <a:endParaRPr lang="en-US" sz="850" dirty="0">
              <a:latin typeface="Aptos" panose="020B0004020202020204" pitchFamily="34" charset="0"/>
            </a:endParaRPr>
          </a:p>
        </p:txBody>
      </p:sp>
      <p:sp>
        <p:nvSpPr>
          <p:cNvPr id="163" name="Shape 153"/>
          <p:cNvSpPr/>
          <p:nvPr/>
        </p:nvSpPr>
        <p:spPr>
          <a:xfrm>
            <a:off x="7571232" y="4389120"/>
            <a:ext cx="3310128" cy="530352"/>
          </a:xfrm>
          <a:prstGeom prst="rect">
            <a:avLst/>
          </a:prstGeom>
          <a:solidFill>
            <a:srgbClr val="0D1E3A"/>
          </a:solidFill>
          <a:ln w="6350">
            <a:solidFill>
              <a:srgbClr val="1A2E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4" name="Text 154"/>
          <p:cNvSpPr/>
          <p:nvPr/>
        </p:nvSpPr>
        <p:spPr>
          <a:xfrm>
            <a:off x="7631430" y="433425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9456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84.24%</a:t>
            </a:r>
            <a:endParaRPr lang="en-US" sz="2600" dirty="0">
              <a:latin typeface="Aptos" panose="020B0004020202020204" pitchFamily="34" charset="0"/>
            </a:endParaRPr>
          </a:p>
        </p:txBody>
      </p:sp>
      <p:sp>
        <p:nvSpPr>
          <p:cNvPr id="165" name="Text 155"/>
          <p:cNvSpPr/>
          <p:nvPr/>
        </p:nvSpPr>
        <p:spPr>
          <a:xfrm>
            <a:off x="7616952" y="46634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C0C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750" dirty="0">
              <a:latin typeface="Aptos" panose="020B0004020202020204" pitchFamily="34" charset="0"/>
            </a:endParaRPr>
          </a:p>
        </p:txBody>
      </p:sp>
      <p:sp>
        <p:nvSpPr>
          <p:cNvPr id="166" name="Text 156"/>
          <p:cNvSpPr/>
          <p:nvPr/>
        </p:nvSpPr>
        <p:spPr>
          <a:xfrm>
            <a:off x="9198864" y="433425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F4F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0.3647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167" name="Text 157"/>
          <p:cNvSpPr/>
          <p:nvPr/>
        </p:nvSpPr>
        <p:spPr>
          <a:xfrm>
            <a:off x="9198864" y="46634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C0C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750" dirty="0">
              <a:latin typeface="Aptos" panose="020B0004020202020204" pitchFamily="34" charset="0"/>
            </a:endParaRPr>
          </a:p>
        </p:txBody>
      </p:sp>
      <p:sp>
        <p:nvSpPr>
          <p:cNvPr id="168" name="Shape 158"/>
          <p:cNvSpPr/>
          <p:nvPr/>
        </p:nvSpPr>
        <p:spPr>
          <a:xfrm>
            <a:off x="10113264" y="4425696"/>
            <a:ext cx="694944" cy="402336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9" name="Text 159"/>
          <p:cNvSpPr/>
          <p:nvPr/>
        </p:nvSpPr>
        <p:spPr>
          <a:xfrm>
            <a:off x="10113264" y="4425696"/>
            <a:ext cx="694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</a:t>
            </a:r>
            <a:r>
              <a:rPr lang="en-US" sz="9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170" name="Text 160"/>
          <p:cNvSpPr/>
          <p:nvPr/>
        </p:nvSpPr>
        <p:spPr>
          <a:xfrm>
            <a:off x="7571232" y="5065776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B2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Best Test Accuracy Comparison (%)</a:t>
            </a:r>
            <a:endParaRPr lang="en-US" sz="950" dirty="0">
              <a:latin typeface="Aptos" panose="020B0004020202020204" pitchFamily="34" charset="0"/>
            </a:endParaRPr>
          </a:p>
        </p:txBody>
      </p:sp>
      <p:graphicFrame>
        <p:nvGraphicFramePr>
          <p:cNvPr id="171" name="Chart 0"/>
          <p:cNvGraphicFramePr/>
          <p:nvPr/>
        </p:nvGraphicFramePr>
        <p:xfrm>
          <a:off x="7552944" y="5303520"/>
          <a:ext cx="3346704" cy="15727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172" name="Shape 161"/>
          <p:cNvSpPr/>
          <p:nvPr/>
        </p:nvSpPr>
        <p:spPr>
          <a:xfrm>
            <a:off x="7558278" y="6949440"/>
            <a:ext cx="3337560" cy="822960"/>
          </a:xfrm>
          <a:prstGeom prst="rect">
            <a:avLst/>
          </a:prstGeom>
          <a:solidFill>
            <a:srgbClr val="1A0A1A"/>
          </a:solidFill>
          <a:ln w="190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3" name="Text 162"/>
          <p:cNvSpPr/>
          <p:nvPr/>
        </p:nvSpPr>
        <p:spPr>
          <a:xfrm>
            <a:off x="7644384" y="7068312"/>
            <a:ext cx="3163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456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⭐ KEY FINDING: </a:t>
            </a:r>
            <a:r>
              <a:rPr lang="en-US" sz="950" dirty="0">
                <a:solidFill>
                  <a:srgbClr val="E8F4F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Both FL and SFL exceeded the centralised baseline (84.24% vs 83.70%) — demonstrating that privacy-preserving distributed training can match or surpass centralised approaches through the implicit regularisation effect of FedAvg aggregation.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174" name="Shape 163"/>
          <p:cNvSpPr/>
          <p:nvPr/>
        </p:nvSpPr>
        <p:spPr>
          <a:xfrm>
            <a:off x="11137392" y="1170432"/>
            <a:ext cx="3822192" cy="1993392"/>
          </a:xfrm>
          <a:prstGeom prst="rect">
            <a:avLst/>
          </a:prstGeom>
          <a:solidFill>
            <a:srgbClr val="162447"/>
          </a:solidFill>
          <a:ln w="12700">
            <a:solidFill>
              <a:srgbClr val="1A2E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5" name="Shape 164"/>
          <p:cNvSpPr/>
          <p:nvPr/>
        </p:nvSpPr>
        <p:spPr>
          <a:xfrm>
            <a:off x="11137392" y="1170432"/>
            <a:ext cx="3822192" cy="301752"/>
          </a:xfrm>
          <a:prstGeom prst="rect">
            <a:avLst/>
          </a:prstGeom>
          <a:solidFill>
            <a:srgbClr val="1F4068"/>
          </a:solidFill>
          <a:ln w="12700">
            <a:solidFill>
              <a:srgbClr val="1F40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6" name="Shape 165"/>
          <p:cNvSpPr/>
          <p:nvPr/>
        </p:nvSpPr>
        <p:spPr>
          <a:xfrm>
            <a:off x="11137392" y="1170432"/>
            <a:ext cx="64008" cy="3017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47120" y="1216152"/>
            <a:ext cx="201168" cy="201168"/>
          </a:xfrm>
          <a:prstGeom prst="rect">
            <a:avLst/>
          </a:prstGeom>
        </p:spPr>
      </p:pic>
      <p:sp>
        <p:nvSpPr>
          <p:cNvPr id="178" name="Text 166"/>
          <p:cNvSpPr/>
          <p:nvPr/>
        </p:nvSpPr>
        <p:spPr>
          <a:xfrm>
            <a:off x="11484864" y="1207008"/>
            <a:ext cx="3364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EB2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PRIVACY &amp; PERFORMANCE COMPARISON</a:t>
            </a:r>
            <a:endParaRPr lang="en-US" sz="950" dirty="0">
              <a:latin typeface="Aptos" panose="020B0004020202020204" pitchFamily="34" charset="0"/>
            </a:endParaRPr>
          </a:p>
        </p:txBody>
      </p:sp>
      <p:graphicFrame>
        <p:nvGraphicFramePr>
          <p:cNvPr id="17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377901"/>
              </p:ext>
            </p:extLst>
          </p:nvPr>
        </p:nvGraphicFramePr>
        <p:xfrm>
          <a:off x="11228832" y="1517904"/>
          <a:ext cx="3639310" cy="1645920"/>
        </p:xfrm>
        <a:graphic>
          <a:graphicData uri="http://schemas.openxmlformats.org/drawingml/2006/table">
            <a:tbl>
              <a:tblPr/>
              <a:tblGrid>
                <a:gridCol w="727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78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78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78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9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0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Best Acc.</a:t>
                      </a:r>
                      <a:endParaRPr lang="en-US" sz="9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0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Raw Data?</a:t>
                      </a:r>
                      <a:endParaRPr lang="en-US" sz="9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0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Privacy</a:t>
                      </a:r>
                      <a:endParaRPr lang="en-US" sz="9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0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Comm. Cost</a:t>
                      </a:r>
                      <a:endParaRPr lang="en-US" sz="9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0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9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B7BEC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83.70%</a:t>
                      </a:r>
                      <a:endParaRPr lang="en-US" sz="9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9456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Yes — all</a:t>
                      </a:r>
                      <a:endParaRPr lang="en-US" sz="9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9456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8C0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Fed</a:t>
                      </a:r>
                      <a:r>
                        <a:rPr lang="en-US" sz="9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 </a:t>
                      </a:r>
                      <a:r>
                        <a:rPr lang="en-US" sz="900" dirty="0">
                          <a:solidFill>
                            <a:srgbClr val="E8F4F8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Learning</a:t>
                      </a:r>
                      <a:endParaRPr lang="en-US" sz="9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B2E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84.24% ↑</a:t>
                      </a:r>
                      <a:endParaRPr lang="en-US" sz="9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ECC71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CC71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9456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r>
                        <a:rPr lang="en-US" sz="9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900" dirty="0">
                          <a:solidFill>
                            <a:srgbClr val="E8F4F8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Learn</a:t>
                      </a:r>
                      <a:r>
                        <a:rPr lang="en-US" sz="9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9B59B6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83.15%</a:t>
                      </a:r>
                      <a:endParaRPr lang="en-US" sz="9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ECC71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CC71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39C12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9456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Split-Fed</a:t>
                      </a:r>
                      <a:r>
                        <a:rPr lang="en-US" sz="900" b="1" dirty="0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9456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84.24% ↑</a:t>
                      </a:r>
                      <a:endParaRPr lang="en-US" sz="9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ECC71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ECC71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Highest</a:t>
                      </a:r>
                      <a:endParaRPr lang="en-US" sz="9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ECC71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Low ✓</a:t>
                      </a:r>
                      <a:endParaRPr lang="en-US" sz="9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0" name="Shape 167"/>
          <p:cNvSpPr/>
          <p:nvPr/>
        </p:nvSpPr>
        <p:spPr>
          <a:xfrm>
            <a:off x="11137392" y="3255264"/>
            <a:ext cx="3822192" cy="2212848"/>
          </a:xfrm>
          <a:prstGeom prst="rect">
            <a:avLst/>
          </a:prstGeom>
          <a:solidFill>
            <a:srgbClr val="162447"/>
          </a:solidFill>
          <a:ln w="12700">
            <a:solidFill>
              <a:srgbClr val="1A2E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1" name="Shape 168"/>
          <p:cNvSpPr/>
          <p:nvPr/>
        </p:nvSpPr>
        <p:spPr>
          <a:xfrm>
            <a:off x="11137392" y="3255264"/>
            <a:ext cx="3822192" cy="301752"/>
          </a:xfrm>
          <a:prstGeom prst="rect">
            <a:avLst/>
          </a:prstGeom>
          <a:solidFill>
            <a:srgbClr val="1F4068"/>
          </a:solidFill>
          <a:ln w="12700">
            <a:solidFill>
              <a:srgbClr val="1F40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2" name="Shape 169"/>
          <p:cNvSpPr/>
          <p:nvPr/>
        </p:nvSpPr>
        <p:spPr>
          <a:xfrm>
            <a:off x="11137392" y="3255264"/>
            <a:ext cx="64008" cy="3017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3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0" y="3300984"/>
            <a:ext cx="201168" cy="201168"/>
          </a:xfrm>
          <a:prstGeom prst="rect">
            <a:avLst/>
          </a:prstGeom>
        </p:spPr>
      </p:pic>
      <p:sp>
        <p:nvSpPr>
          <p:cNvPr id="184" name="Text 170"/>
          <p:cNvSpPr/>
          <p:nvPr/>
        </p:nvSpPr>
        <p:spPr>
          <a:xfrm>
            <a:off x="11484864" y="3291840"/>
            <a:ext cx="3364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EB2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950" dirty="0">
              <a:latin typeface="Aptos" panose="020B0004020202020204" pitchFamily="34" charset="0"/>
            </a:endParaRPr>
          </a:p>
        </p:txBody>
      </p:sp>
      <p:sp>
        <p:nvSpPr>
          <p:cNvPr id="185" name="Text 171"/>
          <p:cNvSpPr/>
          <p:nvPr/>
        </p:nvSpPr>
        <p:spPr>
          <a:xfrm>
            <a:off x="11265408" y="3602736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EB2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Why FL/SFL Beat Baseline: </a:t>
            </a:r>
            <a:r>
              <a:rPr lang="en-US" sz="950" dirty="0">
                <a:solidFill>
                  <a:srgbClr val="E8F4F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FedAvg averages weights across 5 independently trained clients, creating an implicit ensemble regularisation effect that reduces overfitting — particularly effective on smaller datasets (~148 samples/client).</a:t>
            </a:r>
            <a:endParaRPr lang="en-US" sz="950" dirty="0">
              <a:latin typeface="Aptos" panose="020B0004020202020204" pitchFamily="34" charset="0"/>
            </a:endParaRPr>
          </a:p>
        </p:txBody>
      </p:sp>
      <p:sp>
        <p:nvSpPr>
          <p:cNvPr id="186" name="Text 172"/>
          <p:cNvSpPr/>
          <p:nvPr/>
        </p:nvSpPr>
        <p:spPr>
          <a:xfrm>
            <a:off x="11265408" y="4212844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EB2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SFL Loss Advantage: </a:t>
            </a:r>
            <a:r>
              <a:rPr lang="en-US" sz="950" dirty="0">
                <a:solidFill>
                  <a:srgbClr val="E8F4F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SFL's final loss (0.3647) closely matches the baseline (0.3692), indicating better-calibrated predictions. FL's higher loss (0.4450) reflects progressive overfitting in later rounds.</a:t>
            </a:r>
            <a:endParaRPr lang="en-US" sz="950" dirty="0">
              <a:latin typeface="Aptos" panose="020B0004020202020204" pitchFamily="34" charset="0"/>
            </a:endParaRPr>
          </a:p>
        </p:txBody>
      </p:sp>
      <p:sp>
        <p:nvSpPr>
          <p:cNvPr id="187" name="Text 173"/>
          <p:cNvSpPr/>
          <p:nvPr/>
        </p:nvSpPr>
        <p:spPr>
          <a:xfrm>
            <a:off x="11265408" y="4736592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EB2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SL Convergence: </a:t>
            </a:r>
            <a:r>
              <a:rPr lang="en-US" sz="950" dirty="0">
                <a:solidFill>
                  <a:srgbClr val="E8F4F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SL's smooth, continuous loss decrease through 100 epochs (still declining at epoch 100) suggests it would benefit from further training — a clear direction for future work.</a:t>
            </a:r>
            <a:endParaRPr lang="en-US" sz="950" dirty="0">
              <a:latin typeface="Aptos" panose="020B0004020202020204" pitchFamily="34" charset="0"/>
            </a:endParaRPr>
          </a:p>
        </p:txBody>
      </p:sp>
      <p:sp>
        <p:nvSpPr>
          <p:cNvPr id="188" name="Shape 174"/>
          <p:cNvSpPr/>
          <p:nvPr/>
        </p:nvSpPr>
        <p:spPr>
          <a:xfrm>
            <a:off x="11137392" y="5559552"/>
            <a:ext cx="3822192" cy="1938528"/>
          </a:xfrm>
          <a:prstGeom prst="rect">
            <a:avLst/>
          </a:prstGeom>
          <a:solidFill>
            <a:srgbClr val="162447"/>
          </a:solidFill>
          <a:ln w="12700">
            <a:solidFill>
              <a:srgbClr val="1A2E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9" name="Shape 175"/>
          <p:cNvSpPr/>
          <p:nvPr/>
        </p:nvSpPr>
        <p:spPr>
          <a:xfrm>
            <a:off x="11137392" y="5559552"/>
            <a:ext cx="3822192" cy="301752"/>
          </a:xfrm>
          <a:prstGeom prst="rect">
            <a:avLst/>
          </a:prstGeom>
          <a:solidFill>
            <a:srgbClr val="1F4068"/>
          </a:solidFill>
          <a:ln w="12700">
            <a:solidFill>
              <a:srgbClr val="1F40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0" name="Shape 176"/>
          <p:cNvSpPr/>
          <p:nvPr/>
        </p:nvSpPr>
        <p:spPr>
          <a:xfrm>
            <a:off x="11137392" y="5559552"/>
            <a:ext cx="64008" cy="3017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1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7120" y="5605272"/>
            <a:ext cx="201168" cy="201168"/>
          </a:xfrm>
          <a:prstGeom prst="rect">
            <a:avLst/>
          </a:prstGeom>
        </p:spPr>
      </p:pic>
      <p:sp>
        <p:nvSpPr>
          <p:cNvPr id="192" name="Text 177"/>
          <p:cNvSpPr/>
          <p:nvPr/>
        </p:nvSpPr>
        <p:spPr>
          <a:xfrm>
            <a:off x="11484864" y="5596128"/>
            <a:ext cx="3364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EB2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50" dirty="0">
              <a:latin typeface="Aptos" panose="020B0004020202020204" pitchFamily="34" charset="0"/>
            </a:endParaRPr>
          </a:p>
        </p:txBody>
      </p:sp>
      <p:sp>
        <p:nvSpPr>
          <p:cNvPr id="193" name="Shape 178"/>
          <p:cNvSpPr/>
          <p:nvPr/>
        </p:nvSpPr>
        <p:spPr>
          <a:xfrm>
            <a:off x="11247120" y="5925312"/>
            <a:ext cx="3602736" cy="310896"/>
          </a:xfrm>
          <a:prstGeom prst="rect">
            <a:avLst/>
          </a:prstGeom>
          <a:solidFill>
            <a:srgbClr val="0A1628"/>
          </a:solidFill>
          <a:ln w="6350">
            <a:solidFill>
              <a:srgbClr val="1A2E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4" name="Text 179"/>
          <p:cNvSpPr/>
          <p:nvPr/>
        </p:nvSpPr>
        <p:spPr>
          <a:xfrm>
            <a:off x="11320272" y="5925312"/>
            <a:ext cx="3456432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✅  All 3 PPML techniques stayed within 1.09% of the centralised baseline accuracy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195" name="Shape 180"/>
          <p:cNvSpPr/>
          <p:nvPr/>
        </p:nvSpPr>
        <p:spPr>
          <a:xfrm>
            <a:off x="11247120" y="6291072"/>
            <a:ext cx="3602736" cy="310896"/>
          </a:xfrm>
          <a:prstGeom prst="rect">
            <a:avLst/>
          </a:prstGeom>
          <a:solidFill>
            <a:srgbClr val="0A1628"/>
          </a:solidFill>
          <a:ln w="6350">
            <a:solidFill>
              <a:srgbClr val="1A2E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6" name="Text 181"/>
          <p:cNvSpPr/>
          <p:nvPr/>
        </p:nvSpPr>
        <p:spPr>
          <a:xfrm>
            <a:off x="11320272" y="6291072"/>
            <a:ext cx="3456432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🏆  Split-Fed Learning: best accuracy (84.24%), lowest loss (0.3647), fastest convergence (round 10)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197" name="Shape 182"/>
          <p:cNvSpPr/>
          <p:nvPr/>
        </p:nvSpPr>
        <p:spPr>
          <a:xfrm>
            <a:off x="11247120" y="6656832"/>
            <a:ext cx="3602736" cy="310896"/>
          </a:xfrm>
          <a:prstGeom prst="rect">
            <a:avLst/>
          </a:prstGeom>
          <a:solidFill>
            <a:srgbClr val="0A1628"/>
          </a:solidFill>
          <a:ln w="6350">
            <a:solidFill>
              <a:srgbClr val="1A2E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8" name="Text 183"/>
          <p:cNvSpPr/>
          <p:nvPr/>
        </p:nvSpPr>
        <p:spPr>
          <a:xfrm>
            <a:off x="11320272" y="6656832"/>
            <a:ext cx="3456432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🔒  Raw patient data never leaves client devices — full compliance with UK GDPR Article 9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199" name="Shape 184"/>
          <p:cNvSpPr/>
          <p:nvPr/>
        </p:nvSpPr>
        <p:spPr>
          <a:xfrm>
            <a:off x="11247120" y="7022592"/>
            <a:ext cx="3602736" cy="310896"/>
          </a:xfrm>
          <a:prstGeom prst="rect">
            <a:avLst/>
          </a:prstGeom>
          <a:solidFill>
            <a:srgbClr val="0A1628"/>
          </a:solidFill>
          <a:ln w="6350">
            <a:solidFill>
              <a:srgbClr val="1A2E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0" name="Text 185"/>
          <p:cNvSpPr/>
          <p:nvPr/>
        </p:nvSpPr>
        <p:spPr>
          <a:xfrm>
            <a:off x="11320272" y="7022592"/>
            <a:ext cx="3456432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🏥  SFL is the recommended approach for NHS multi-hospital federated deployments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201" name="Shape 186"/>
          <p:cNvSpPr/>
          <p:nvPr/>
        </p:nvSpPr>
        <p:spPr>
          <a:xfrm>
            <a:off x="11137392" y="7589520"/>
            <a:ext cx="3822192" cy="1133856"/>
          </a:xfrm>
          <a:prstGeom prst="rect">
            <a:avLst/>
          </a:prstGeom>
          <a:solidFill>
            <a:srgbClr val="162447"/>
          </a:solidFill>
          <a:ln w="12700">
            <a:solidFill>
              <a:srgbClr val="1A2E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2" name="Shape 187"/>
          <p:cNvSpPr/>
          <p:nvPr/>
        </p:nvSpPr>
        <p:spPr>
          <a:xfrm>
            <a:off x="11137392" y="7589520"/>
            <a:ext cx="3822192" cy="301752"/>
          </a:xfrm>
          <a:prstGeom prst="rect">
            <a:avLst/>
          </a:prstGeom>
          <a:solidFill>
            <a:srgbClr val="1F4068"/>
          </a:solidFill>
          <a:ln w="12700">
            <a:solidFill>
              <a:srgbClr val="1F40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3" name="Shape 188"/>
          <p:cNvSpPr/>
          <p:nvPr/>
        </p:nvSpPr>
        <p:spPr>
          <a:xfrm>
            <a:off x="11137392" y="7589520"/>
            <a:ext cx="64008" cy="3017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4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247120" y="7635240"/>
            <a:ext cx="201168" cy="201168"/>
          </a:xfrm>
          <a:prstGeom prst="rect">
            <a:avLst/>
          </a:prstGeom>
        </p:spPr>
      </p:pic>
      <p:sp>
        <p:nvSpPr>
          <p:cNvPr id="205" name="Text 189"/>
          <p:cNvSpPr/>
          <p:nvPr/>
        </p:nvSpPr>
        <p:spPr>
          <a:xfrm>
            <a:off x="11484864" y="7626096"/>
            <a:ext cx="3364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EB2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950" dirty="0">
              <a:latin typeface="Aptos" panose="020B0004020202020204" pitchFamily="34" charset="0"/>
            </a:endParaRPr>
          </a:p>
        </p:txBody>
      </p:sp>
      <p:sp>
        <p:nvSpPr>
          <p:cNvPr id="206" name="Text 190"/>
          <p:cNvSpPr/>
          <p:nvPr/>
        </p:nvSpPr>
        <p:spPr>
          <a:xfrm>
            <a:off x="11265408" y="793699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9456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900" dirty="0">
                <a:solidFill>
                  <a:srgbClr val="E8F4F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Non-IID client data distributions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207" name="Text 191"/>
          <p:cNvSpPr/>
          <p:nvPr/>
        </p:nvSpPr>
        <p:spPr>
          <a:xfrm>
            <a:off x="11265408" y="8090611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9456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900" dirty="0">
                <a:solidFill>
                  <a:srgbClr val="E8F4F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Differential Privacy (DP-SGD) integration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208" name="Text 192"/>
          <p:cNvSpPr/>
          <p:nvPr/>
        </p:nvSpPr>
        <p:spPr>
          <a:xfrm>
            <a:off x="11265408" y="824423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9456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900" dirty="0">
                <a:solidFill>
                  <a:srgbClr val="E8F4F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Round-level early stopping for FL/SFL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209" name="Text 193"/>
          <p:cNvSpPr/>
          <p:nvPr/>
        </p:nvSpPr>
        <p:spPr>
          <a:xfrm>
            <a:off x="11265408" y="839785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9456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900" dirty="0">
                <a:solidFill>
                  <a:srgbClr val="E8F4F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Scale to 20–50 hospital clients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210" name="Text 194"/>
          <p:cNvSpPr/>
          <p:nvPr/>
        </p:nvSpPr>
        <p:spPr>
          <a:xfrm>
            <a:off x="11265408" y="8551469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9456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900" dirty="0">
                <a:solidFill>
                  <a:srgbClr val="E8F4F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Validate on MIMIC-III or CheXpert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211" name="Shape 195"/>
          <p:cNvSpPr/>
          <p:nvPr/>
        </p:nvSpPr>
        <p:spPr>
          <a:xfrm>
            <a:off x="11137392" y="8814816"/>
            <a:ext cx="3822192" cy="822960"/>
          </a:xfrm>
          <a:prstGeom prst="rect">
            <a:avLst/>
          </a:prstGeom>
          <a:solidFill>
            <a:srgbClr val="162447"/>
          </a:solidFill>
          <a:ln w="12700">
            <a:solidFill>
              <a:srgbClr val="1A2E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2" name="Text 196"/>
          <p:cNvSpPr/>
          <p:nvPr/>
        </p:nvSpPr>
        <p:spPr>
          <a:xfrm>
            <a:off x="11228832" y="8869680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B2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Key References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213" name="Text 197"/>
          <p:cNvSpPr/>
          <p:nvPr/>
        </p:nvSpPr>
        <p:spPr>
          <a:xfrm>
            <a:off x="11265408" y="9070848"/>
            <a:ext cx="3566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C0C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▸ McMahan et al. (2017) — FedAvg, AISTATS</a:t>
            </a:r>
            <a:endParaRPr lang="en-US" sz="750" dirty="0">
              <a:latin typeface="Aptos" panose="020B0004020202020204" pitchFamily="34" charset="0"/>
            </a:endParaRPr>
          </a:p>
        </p:txBody>
      </p:sp>
      <p:sp>
        <p:nvSpPr>
          <p:cNvPr id="214" name="Text 198"/>
          <p:cNvSpPr/>
          <p:nvPr/>
        </p:nvSpPr>
        <p:spPr>
          <a:xfrm>
            <a:off x="11265408" y="9206179"/>
            <a:ext cx="3566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C0C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▸ Thapa et al. (2020) — SplitFed, arXiv:2004.12088</a:t>
            </a:r>
            <a:endParaRPr lang="en-US" sz="750" dirty="0">
              <a:latin typeface="Aptos" panose="020B0004020202020204" pitchFamily="34" charset="0"/>
            </a:endParaRPr>
          </a:p>
        </p:txBody>
      </p:sp>
      <p:sp>
        <p:nvSpPr>
          <p:cNvPr id="215" name="Text 199"/>
          <p:cNvSpPr/>
          <p:nvPr/>
        </p:nvSpPr>
        <p:spPr>
          <a:xfrm>
            <a:off x="11265408" y="9341510"/>
            <a:ext cx="3566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C0C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▸ Gupta &amp; Raskar (2018) — Split Learning, JNCA</a:t>
            </a:r>
            <a:endParaRPr lang="en-US" sz="750" dirty="0">
              <a:latin typeface="Aptos" panose="020B0004020202020204" pitchFamily="34" charset="0"/>
            </a:endParaRPr>
          </a:p>
        </p:txBody>
      </p:sp>
      <p:sp>
        <p:nvSpPr>
          <p:cNvPr id="216" name="Text 200"/>
          <p:cNvSpPr/>
          <p:nvPr/>
        </p:nvSpPr>
        <p:spPr>
          <a:xfrm>
            <a:off x="11265408" y="9476842"/>
            <a:ext cx="3566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C0C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▸ Zhu et al. (2019) — Gradient inversion, NeurIPS</a:t>
            </a:r>
            <a:endParaRPr lang="en-US" sz="750" dirty="0">
              <a:latin typeface="Aptos" panose="020B0004020202020204" pitchFamily="34" charset="0"/>
            </a:endParaRPr>
          </a:p>
        </p:txBody>
      </p:sp>
      <p:sp>
        <p:nvSpPr>
          <p:cNvPr id="217" name="Shape 201"/>
          <p:cNvSpPr/>
          <p:nvPr/>
        </p:nvSpPr>
        <p:spPr>
          <a:xfrm>
            <a:off x="0" y="10268712"/>
            <a:ext cx="15124176" cy="420624"/>
          </a:xfrm>
          <a:prstGeom prst="rect">
            <a:avLst/>
          </a:prstGeom>
          <a:solidFill>
            <a:srgbClr val="1F4068"/>
          </a:solidFill>
          <a:ln w="12700">
            <a:solidFill>
              <a:srgbClr val="1F40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8" name="Shape 202"/>
          <p:cNvSpPr/>
          <p:nvPr/>
        </p:nvSpPr>
        <p:spPr>
          <a:xfrm>
            <a:off x="0" y="10268712"/>
            <a:ext cx="15124176" cy="36576"/>
          </a:xfrm>
          <a:prstGeom prst="rect">
            <a:avLst/>
          </a:prstGeom>
          <a:solidFill>
            <a:srgbClr val="1EB2E0"/>
          </a:solidFill>
          <a:ln w="12700">
            <a:solidFill>
              <a:srgbClr val="1EB2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9" name="Text 203"/>
          <p:cNvSpPr/>
          <p:nvPr/>
        </p:nvSpPr>
        <p:spPr>
          <a:xfrm>
            <a:off x="182880" y="10323576"/>
            <a:ext cx="1475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C0C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Alif Sathar  |  SID: 2276245  |  BSc (Hons) Artificial Intelligence  |  Anglia Ruskin University  |  Supervisor: Dr Raj Shukla  |  Ethics: ETH2526-2037  |  April 2026  |  AS3264@student.aru.ac.uk</a:t>
            </a:r>
            <a:endParaRPr lang="en-US" sz="8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959</Words>
  <Application>Microsoft Office PowerPoint</Application>
  <PresentationFormat>Custom</PresentationFormat>
  <Paragraphs>156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Sathar, Alif (Student)</cp:lastModifiedBy>
  <cp:revision>3</cp:revision>
  <dcterms:created xsi:type="dcterms:W3CDTF">2026-04-21T10:39:06Z</dcterms:created>
  <dcterms:modified xsi:type="dcterms:W3CDTF">2026-04-21T11:32:52Z</dcterms:modified>
</cp:coreProperties>
</file>